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7315200" y="-1828800"/>
            <a:ext cx="7315200" cy="7315200"/>
          </a:xfrm>
          <a:prstGeom prst="ellipse">
            <a:avLst/>
          </a:prstGeom>
          <a:solidFill>
            <a:srgbClr val="38BDF8">
              <a:alpha val="12000"/>
            </a:srgbClr>
          </a:solidFill>
          <a:ln w="12700">
            <a:solidFill>
              <a:srgbClr val="38BDF8">
                <a:alpha val="0"/>
              </a:srgbClr>
            </a:solidFill>
            <a:prstDash val="solid"/>
          </a:ln>
        </p:spPr>
      </p:sp>
      <p:sp>
        <p:nvSpPr>
          <p:cNvPr id="3" name="Shape 1"/>
          <p:cNvSpPr/>
          <p:nvPr/>
        </p:nvSpPr>
        <p:spPr>
          <a:xfrm>
            <a:off x="-1828800" y="3657600"/>
            <a:ext cx="5486400" cy="5486400"/>
          </a:xfrm>
          <a:prstGeom prst="ellipse">
            <a:avLst/>
          </a:prstGeom>
          <a:solidFill>
            <a:srgbClr val="06B6D4">
              <a:alpha val="8000"/>
            </a:srgbClr>
          </a:solidFill>
          <a:ln w="12700">
            <a:solidFill>
              <a:srgbClr val="06B6D4">
                <a:alpha val="0"/>
              </a:srgbClr>
            </a:solidFill>
            <a:prstDash val="solid"/>
          </a:ln>
        </p:spPr>
      </p:sp>
      <p:pic>
        <p:nvPicPr>
          <p:cNvPr id="4" name="Image 0" descr="/home/claude/ppt/logo_full.png">    </p:cNvPr>
          <p:cNvPicPr>
            <a:picLocks noChangeAspect="1"/>
          </p:cNvPicPr>
          <p:nvPr/>
        </p:nvPicPr>
        <p:blipFill>
          <a:blip r:embed="rId1"/>
          <a:stretch>
            <a:fillRect/>
          </a:stretch>
        </p:blipFill>
        <p:spPr>
          <a:xfrm>
            <a:off x="8229600" y="1645920"/>
            <a:ext cx="3017520" cy="2743200"/>
          </a:xfrm>
          <a:prstGeom prst="rect">
            <a:avLst/>
          </a:prstGeom>
        </p:spPr>
      </p:pic>
      <p:sp>
        <p:nvSpPr>
          <p:cNvPr id="5" name="Text 2"/>
          <p:cNvSpPr/>
          <p:nvPr/>
        </p:nvSpPr>
        <p:spPr>
          <a:xfrm>
            <a:off x="640080" y="731520"/>
            <a:ext cx="7315200" cy="320040"/>
          </a:xfrm>
          <a:prstGeom prst="rect">
            <a:avLst/>
          </a:prstGeom>
          <a:noFill/>
          <a:ln/>
        </p:spPr>
        <p:txBody>
          <a:bodyPr wrap="square" lIns="0" tIns="0" rIns="0" bIns="0" rtlCol="0" anchor="ctr"/>
          <a:lstStyle/>
          <a:p>
            <a:pPr indent="0" marL="0">
              <a:buNone/>
            </a:pPr>
            <a:r>
              <a:rPr lang="en-US" sz="1000" b="1" spc="300" kern="0" dirty="0">
                <a:solidFill>
                  <a:srgbClr val="38BDF8"/>
                </a:solidFill>
                <a:latin typeface="Yu Gothic" pitchFamily="34" charset="0"/>
                <a:ea typeface="Yu Gothic" pitchFamily="34" charset="-122"/>
                <a:cs typeface="Yu Gothic" pitchFamily="34" charset="-120"/>
              </a:rPr>
              <a:t>独立系デザインハウス  ·  2026年4月設立</a:t>
            </a:r>
            <a:endParaRPr lang="en-US" sz="1000" dirty="0"/>
          </a:p>
        </p:txBody>
      </p:sp>
      <p:sp>
        <p:nvSpPr>
          <p:cNvPr id="6" name="Text 3"/>
          <p:cNvSpPr/>
          <p:nvPr/>
        </p:nvSpPr>
        <p:spPr>
          <a:xfrm>
            <a:off x="640080" y="2377440"/>
            <a:ext cx="7772400" cy="1463040"/>
          </a:xfrm>
          <a:prstGeom prst="rect">
            <a:avLst/>
          </a:prstGeom>
          <a:noFill/>
          <a:ln/>
        </p:spPr>
        <p:txBody>
          <a:bodyPr wrap="square" lIns="0" tIns="0" rIns="0" bIns="0" rtlCol="0" anchor="ctr"/>
          <a:lstStyle/>
          <a:p>
            <a:pPr indent="0" marL="0">
              <a:buNone/>
            </a:pPr>
            <a:r>
              <a:rPr lang="en-US" sz="8000" b="1" dirty="0">
                <a:solidFill>
                  <a:srgbClr val="FFFFFF"/>
                </a:solidFill>
                <a:latin typeface="Calibri" pitchFamily="34" charset="0"/>
                <a:ea typeface="Calibri" pitchFamily="34" charset="-122"/>
                <a:cs typeface="Calibri" pitchFamily="34" charset="-120"/>
              </a:rPr>
              <a:t>Sense Smarter.</a:t>
            </a:r>
            <a:endParaRPr lang="en-US" sz="8000" dirty="0"/>
          </a:p>
        </p:txBody>
      </p:sp>
      <p:sp>
        <p:nvSpPr>
          <p:cNvPr id="7" name="Text 4"/>
          <p:cNvSpPr/>
          <p:nvPr/>
        </p:nvSpPr>
        <p:spPr>
          <a:xfrm>
            <a:off x="640080" y="3840480"/>
            <a:ext cx="7772400" cy="640080"/>
          </a:xfrm>
          <a:prstGeom prst="rect">
            <a:avLst/>
          </a:prstGeom>
          <a:noFill/>
          <a:ln/>
        </p:spPr>
        <p:txBody>
          <a:bodyPr wrap="square" lIns="0" tIns="0" rIns="0" bIns="0" rtlCol="0" anchor="ctr"/>
          <a:lstStyle/>
          <a:p>
            <a:pPr indent="0" marL="0">
              <a:buNone/>
            </a:pPr>
            <a:r>
              <a:rPr lang="en-US" sz="2400" dirty="0">
                <a:solidFill>
                  <a:srgbClr val="38BDF8"/>
                </a:solidFill>
                <a:latin typeface="Yu Gothic" pitchFamily="34" charset="0"/>
                <a:ea typeface="Yu Gothic" pitchFamily="34" charset="-122"/>
                <a:cs typeface="Yu Gothic" pitchFamily="34" charset="-120"/>
              </a:rPr>
              <a:t>BLE Sensor Hub &amp; SmartBeacon ソリューション</a:t>
            </a:r>
            <a:endParaRPr lang="en-US" sz="2400" dirty="0"/>
          </a:p>
        </p:txBody>
      </p:sp>
      <p:sp>
        <p:nvSpPr>
          <p:cNvPr id="8" name="Text 5"/>
          <p:cNvSpPr/>
          <p:nvPr/>
        </p:nvSpPr>
        <p:spPr>
          <a:xfrm>
            <a:off x="640080" y="4572000"/>
            <a:ext cx="7772400" cy="365760"/>
          </a:xfrm>
          <a:prstGeom prst="rect">
            <a:avLst/>
          </a:prstGeom>
          <a:noFill/>
          <a:ln/>
        </p:spPr>
        <p:txBody>
          <a:bodyPr wrap="square" lIns="0" tIns="0" rIns="0" bIns="0" rtlCol="0" anchor="ctr"/>
          <a:lstStyle/>
          <a:p>
            <a:pPr indent="0" marL="0">
              <a:buNone/>
            </a:pPr>
            <a:r>
              <a:rPr lang="en-US" sz="1400" dirty="0">
                <a:solidFill>
                  <a:srgbClr val="B8C5D6"/>
                </a:solidFill>
                <a:latin typeface="Yu Gothic" pitchFamily="34" charset="0"/>
                <a:ea typeface="Yu Gothic" pitchFamily="34" charset="-122"/>
                <a:cs typeface="Yu Gothic" pitchFamily="34" charset="-120"/>
              </a:rPr>
              <a:t>スマートセンシングソリューション</a:t>
            </a:r>
            <a:endParaRPr lang="en-US" sz="1400" dirty="0"/>
          </a:p>
        </p:txBody>
      </p:sp>
      <p:sp>
        <p:nvSpPr>
          <p:cNvPr id="9" name="Shape 6"/>
          <p:cNvSpPr/>
          <p:nvPr/>
        </p:nvSpPr>
        <p:spPr>
          <a:xfrm>
            <a:off x="640080" y="6035040"/>
            <a:ext cx="10881360" cy="0"/>
          </a:xfrm>
          <a:prstGeom prst="line">
            <a:avLst/>
          </a:prstGeom>
          <a:noFill/>
          <a:ln w="12700">
            <a:solidFill>
              <a:srgbClr val="38BDF8">
                <a:alpha val="40000"/>
              </a:srgbClr>
            </a:solidFill>
            <a:prstDash val="solid"/>
          </a:ln>
        </p:spPr>
      </p:sp>
      <p:sp>
        <p:nvSpPr>
          <p:cNvPr id="10" name="Text 7"/>
          <p:cNvSpPr/>
          <p:nvPr/>
        </p:nvSpPr>
        <p:spPr>
          <a:xfrm>
            <a:off x="640080" y="6172200"/>
            <a:ext cx="7315200" cy="36576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Humbo Technology Inc.</a:t>
            </a:r>
            <a:endParaRPr lang="en-US" sz="1300" dirty="0"/>
          </a:p>
        </p:txBody>
      </p:sp>
      <p:sp>
        <p:nvSpPr>
          <p:cNvPr id="11" name="Text 8"/>
          <p:cNvSpPr/>
          <p:nvPr/>
        </p:nvSpPr>
        <p:spPr>
          <a:xfrm>
            <a:off x="7315200" y="6172200"/>
            <a:ext cx="4206240" cy="365760"/>
          </a:xfrm>
          <a:prstGeom prst="rect">
            <a:avLst/>
          </a:prstGeom>
          <a:noFill/>
          <a:ln/>
        </p:spPr>
        <p:txBody>
          <a:bodyPr wrap="square" lIns="0" tIns="0" rIns="0" bIns="0" rtlCol="0" anchor="ctr"/>
          <a:lstStyle/>
          <a:p>
            <a:pPr algn="r" indent="0" marL="0">
              <a:buNone/>
            </a:pPr>
            <a:r>
              <a:rPr lang="en-US" sz="1200" dirty="0">
                <a:solidFill>
                  <a:srgbClr val="38BDF8"/>
                </a:solidFill>
                <a:latin typeface="Yu Gothic" pitchFamily="34" charset="0"/>
                <a:ea typeface="Yu Gothic" pitchFamily="34" charset="-122"/>
                <a:cs typeface="Yu Gothic" pitchFamily="34" charset="-120"/>
              </a:rPr>
              <a:t>www.humbotech.com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会社 概要</a:t>
            </a:r>
            <a:endParaRPr lang="en-US" sz="1000" dirty="0"/>
          </a:p>
        </p:txBody>
      </p:sp>
      <p:sp>
        <p:nvSpPr>
          <p:cNvPr id="3" name="Text 1"/>
          <p:cNvSpPr/>
          <p:nvPr/>
        </p:nvSpPr>
        <p:spPr>
          <a:xfrm>
            <a:off x="640080" y="960120"/>
            <a:ext cx="10972800" cy="914400"/>
          </a:xfrm>
          <a:prstGeom prst="rect">
            <a:avLst/>
          </a:prstGeom>
          <a:noFill/>
          <a:ln/>
        </p:spPr>
        <p:txBody>
          <a:bodyPr wrap="square" lIns="0" tIns="0" rIns="0" bIns="0" rtlCol="0" anchor="ctr"/>
          <a:lstStyle/>
          <a:p>
            <a:pPr indent="0" marL="0">
              <a:buNone/>
            </a:pPr>
            <a:r>
              <a:rPr lang="en-US" sz="4000" b="1" dirty="0">
                <a:solidFill>
                  <a:srgbClr val="0A1628"/>
                </a:solidFill>
                <a:latin typeface="Yu Gothic" pitchFamily="34" charset="0"/>
                <a:ea typeface="Yu Gothic" pitchFamily="34" charset="-122"/>
                <a:cs typeface="Yu Gothic" pitchFamily="34" charset="-120"/>
              </a:rPr>
              <a:t>インテリジェンスはセンサーから</a:t>
            </a:r>
            <a:endParaRPr lang="en-US" sz="4000" dirty="0"/>
          </a:p>
        </p:txBody>
      </p:sp>
      <p:sp>
        <p:nvSpPr>
          <p:cNvPr id="4" name="Text 2"/>
          <p:cNvSpPr/>
          <p:nvPr/>
        </p:nvSpPr>
        <p:spPr>
          <a:xfrm>
            <a:off x="640080" y="2194560"/>
            <a:ext cx="6858000" cy="2926080"/>
          </a:xfrm>
          <a:prstGeom prst="rect">
            <a:avLst/>
          </a:prstGeom>
          <a:noFill/>
          <a:ln/>
        </p:spPr>
        <p:txBody>
          <a:bodyPr wrap="square" lIns="0" tIns="0" rIns="0" bIns="0" rtlCol="0" anchor="ctr"/>
          <a:lstStyle/>
          <a:p>
            <a:pPr indent="0" marL="0">
              <a:spcAft>
                <a:spcPts val="600"/>
              </a:spcAft>
              <a:buNone/>
            </a:pPr>
            <a:r>
              <a:rPr lang="en-US" sz="1600" dirty="0">
                <a:solidFill>
                  <a:srgbClr val="1E293B"/>
                </a:solidFill>
                <a:latin typeface="Yu Gothic" pitchFamily="34" charset="0"/>
                <a:ea typeface="Yu Gothic" pitchFamily="34" charset="-122"/>
                <a:cs typeface="Yu Gothic" pitchFamily="34" charset="-120"/>
              </a:rPr>
              <a:t>Humbo Technology（瀚渤科技）は2026年4月に設立されたBLEスマートセンシングソリューションに特化した独立系デザインハウスです。SH-100/SH-200 BLE Sensor Hub（マルチチャンネルモジュラープラットフォーム、Edge AI対応）と、HB100/HB120 SmartBeacon（超低価格・ノーコードBLEタグ）の2製品ラインを提供。コールドチェーン、スマートマニュファクチャリング、スマートビル、ヘルスケア、スマートシティ分野で台湾・日本市場を中心に展開しています。</a:t>
            </a:r>
            <a:endParaRPr lang="en-US" sz="1600" dirty="0"/>
          </a:p>
        </p:txBody>
      </p:sp>
      <p:sp>
        <p:nvSpPr>
          <p:cNvPr id="5" name="Shape 3"/>
          <p:cNvSpPr/>
          <p:nvPr/>
        </p:nvSpPr>
        <p:spPr>
          <a:xfrm>
            <a:off x="7955280" y="2194560"/>
            <a:ext cx="3749040" cy="3291840"/>
          </a:xfrm>
          <a:prstGeom prst="rect">
            <a:avLst/>
          </a:prstGeom>
          <a:solidFill>
            <a:srgbClr val="0A1628"/>
          </a:solidFill>
          <a:ln w="12700">
            <a:solidFill>
              <a:srgbClr val="0A1628"/>
            </a:solidFill>
            <a:prstDash val="solid"/>
          </a:ln>
          <a:effectLst>
            <a:outerShdw sx="100000" sy="100000" kx="0" ky="0" algn="bl" rotWithShape="0" blurRad="203200" dist="50800" dir="5400000">
              <a:srgbClr val="102449">
                <a:alpha val="15000"/>
              </a:srgbClr>
            </a:outerShdw>
          </a:effectLst>
        </p:spPr>
      </p:sp>
      <p:sp>
        <p:nvSpPr>
          <p:cNvPr id="6" name="Shape 4"/>
          <p:cNvSpPr/>
          <p:nvPr/>
        </p:nvSpPr>
        <p:spPr>
          <a:xfrm>
            <a:off x="7955280" y="2194560"/>
            <a:ext cx="3749040" cy="73152"/>
          </a:xfrm>
          <a:prstGeom prst="rect">
            <a:avLst/>
          </a:prstGeom>
          <a:solidFill>
            <a:srgbClr val="38BDF8"/>
          </a:solidFill>
          <a:ln w="12700">
            <a:solidFill>
              <a:srgbClr val="38BDF8"/>
            </a:solidFill>
            <a:prstDash val="solid"/>
          </a:ln>
        </p:spPr>
      </p:sp>
      <p:sp>
        <p:nvSpPr>
          <p:cNvPr id="7" name="Text 5"/>
          <p:cNvSpPr/>
          <p:nvPr/>
        </p:nvSpPr>
        <p:spPr>
          <a:xfrm>
            <a:off x="8229600" y="2514600"/>
            <a:ext cx="3200400" cy="502920"/>
          </a:xfrm>
          <a:prstGeom prst="rect">
            <a:avLst/>
          </a:prstGeom>
          <a:noFill/>
          <a:ln/>
        </p:spPr>
        <p:txBody>
          <a:bodyPr wrap="square" lIns="0" tIns="0" rIns="0" bIns="0" rtlCol="0" anchor="ctr"/>
          <a:lstStyle/>
          <a:p>
            <a:pPr indent="0" marL="0">
              <a:buNone/>
            </a:pPr>
            <a:r>
              <a:rPr lang="en-US" sz="2800" b="1" dirty="0">
                <a:solidFill>
                  <a:srgbClr val="38BDF8"/>
                </a:solidFill>
                <a:latin typeface="Yu Gothic" pitchFamily="34" charset="0"/>
                <a:ea typeface="Yu Gothic" pitchFamily="34" charset="-122"/>
                <a:cs typeface="Yu Gothic" pitchFamily="34" charset="-120"/>
              </a:rPr>
              <a:t>2026.04</a:t>
            </a:r>
            <a:endParaRPr lang="en-US" sz="2800" dirty="0"/>
          </a:p>
        </p:txBody>
      </p:sp>
      <p:sp>
        <p:nvSpPr>
          <p:cNvPr id="8" name="Text 6"/>
          <p:cNvSpPr/>
          <p:nvPr/>
        </p:nvSpPr>
        <p:spPr>
          <a:xfrm>
            <a:off x="8229600" y="3017520"/>
            <a:ext cx="3200400" cy="320040"/>
          </a:xfrm>
          <a:prstGeom prst="rect">
            <a:avLst/>
          </a:prstGeom>
          <a:noFill/>
          <a:ln/>
        </p:spPr>
        <p:txBody>
          <a:bodyPr wrap="square" lIns="0" tIns="0" rIns="0" bIns="0" rtlCol="0" anchor="ctr"/>
          <a:lstStyle/>
          <a:p>
            <a:pPr indent="0" marL="0">
              <a:buNone/>
            </a:pPr>
            <a:r>
              <a:rPr lang="en-US" sz="1100" spc="300" kern="0" dirty="0">
                <a:solidFill>
                  <a:srgbClr val="B8C5D6"/>
                </a:solidFill>
                <a:latin typeface="Yu Gothic" pitchFamily="34" charset="0"/>
                <a:ea typeface="Yu Gothic" pitchFamily="34" charset="-122"/>
                <a:cs typeface="Yu Gothic" pitchFamily="34" charset="-120"/>
              </a:rPr>
              <a:t>設立</a:t>
            </a:r>
            <a:endParaRPr lang="en-US" sz="1100" dirty="0"/>
          </a:p>
        </p:txBody>
      </p:sp>
      <p:sp>
        <p:nvSpPr>
          <p:cNvPr id="9" name="Shape 7"/>
          <p:cNvSpPr/>
          <p:nvPr/>
        </p:nvSpPr>
        <p:spPr>
          <a:xfrm>
            <a:off x="8229600" y="3392424"/>
            <a:ext cx="3200400" cy="0"/>
          </a:xfrm>
          <a:prstGeom prst="line">
            <a:avLst/>
          </a:prstGeom>
          <a:noFill/>
          <a:ln w="6350">
            <a:solidFill>
              <a:srgbClr val="FFFFFF">
                <a:alpha val="12000"/>
              </a:srgbClr>
            </a:solidFill>
            <a:prstDash val="solid"/>
          </a:ln>
        </p:spPr>
      </p:sp>
      <p:sp>
        <p:nvSpPr>
          <p:cNvPr id="10" name="Text 8"/>
          <p:cNvSpPr/>
          <p:nvPr/>
        </p:nvSpPr>
        <p:spPr>
          <a:xfrm>
            <a:off x="8229600" y="3493008"/>
            <a:ext cx="3200400" cy="502920"/>
          </a:xfrm>
          <a:prstGeom prst="rect">
            <a:avLst/>
          </a:prstGeom>
          <a:noFill/>
          <a:ln/>
        </p:spPr>
        <p:txBody>
          <a:bodyPr wrap="square" lIns="0" tIns="0" rIns="0" bIns="0" rtlCol="0" anchor="ctr"/>
          <a:lstStyle/>
          <a:p>
            <a:pPr indent="0" marL="0">
              <a:buNone/>
            </a:pPr>
            <a:r>
              <a:rPr lang="en-US" sz="2800" b="1" dirty="0">
                <a:solidFill>
                  <a:srgbClr val="38BDF8"/>
                </a:solidFill>
                <a:latin typeface="Yu Gothic" pitchFamily="34" charset="0"/>
                <a:ea typeface="Yu Gothic" pitchFamily="34" charset="-122"/>
                <a:cs typeface="Yu Gothic" pitchFamily="34" charset="-120"/>
              </a:rPr>
              <a:t>2</a:t>
            </a:r>
            <a:endParaRPr lang="en-US" sz="2800" dirty="0"/>
          </a:p>
        </p:txBody>
      </p:sp>
      <p:sp>
        <p:nvSpPr>
          <p:cNvPr id="11" name="Text 9"/>
          <p:cNvSpPr/>
          <p:nvPr/>
        </p:nvSpPr>
        <p:spPr>
          <a:xfrm>
            <a:off x="8229600" y="3995928"/>
            <a:ext cx="3200400" cy="320040"/>
          </a:xfrm>
          <a:prstGeom prst="rect">
            <a:avLst/>
          </a:prstGeom>
          <a:noFill/>
          <a:ln/>
        </p:spPr>
        <p:txBody>
          <a:bodyPr wrap="square" lIns="0" tIns="0" rIns="0" bIns="0" rtlCol="0" anchor="ctr"/>
          <a:lstStyle/>
          <a:p>
            <a:pPr indent="0" marL="0">
              <a:buNone/>
            </a:pPr>
            <a:r>
              <a:rPr lang="en-US" sz="1100" spc="300" kern="0" dirty="0">
                <a:solidFill>
                  <a:srgbClr val="B8C5D6"/>
                </a:solidFill>
                <a:latin typeface="Yu Gothic" pitchFamily="34" charset="0"/>
                <a:ea typeface="Yu Gothic" pitchFamily="34" charset="-122"/>
                <a:cs typeface="Yu Gothic" pitchFamily="34" charset="-120"/>
              </a:rPr>
              <a:t>製品ライン</a:t>
            </a:r>
            <a:endParaRPr lang="en-US" sz="1100" dirty="0"/>
          </a:p>
        </p:txBody>
      </p:sp>
      <p:sp>
        <p:nvSpPr>
          <p:cNvPr id="12" name="Shape 10"/>
          <p:cNvSpPr/>
          <p:nvPr/>
        </p:nvSpPr>
        <p:spPr>
          <a:xfrm>
            <a:off x="8229600" y="4370832"/>
            <a:ext cx="3200400" cy="0"/>
          </a:xfrm>
          <a:prstGeom prst="line">
            <a:avLst/>
          </a:prstGeom>
          <a:noFill/>
          <a:ln w="6350">
            <a:solidFill>
              <a:srgbClr val="FFFFFF">
                <a:alpha val="12000"/>
              </a:srgbClr>
            </a:solidFill>
            <a:prstDash val="solid"/>
          </a:ln>
        </p:spPr>
      </p:sp>
      <p:sp>
        <p:nvSpPr>
          <p:cNvPr id="13" name="Text 11"/>
          <p:cNvSpPr/>
          <p:nvPr/>
        </p:nvSpPr>
        <p:spPr>
          <a:xfrm>
            <a:off x="8229600" y="4471416"/>
            <a:ext cx="3200400" cy="502920"/>
          </a:xfrm>
          <a:prstGeom prst="rect">
            <a:avLst/>
          </a:prstGeom>
          <a:noFill/>
          <a:ln/>
        </p:spPr>
        <p:txBody>
          <a:bodyPr wrap="square" lIns="0" tIns="0" rIns="0" bIns="0" rtlCol="0" anchor="ctr"/>
          <a:lstStyle/>
          <a:p>
            <a:pPr indent="0" marL="0">
              <a:buNone/>
            </a:pPr>
            <a:r>
              <a:rPr lang="en-US" sz="2800" b="1" dirty="0">
                <a:solidFill>
                  <a:srgbClr val="38BDF8"/>
                </a:solidFill>
                <a:latin typeface="Yu Gothic" pitchFamily="34" charset="0"/>
                <a:ea typeface="Yu Gothic" pitchFamily="34" charset="-122"/>
                <a:cs typeface="Yu Gothic" pitchFamily="34" charset="-120"/>
              </a:rPr>
              <a:t>2026 Q3</a:t>
            </a:r>
            <a:endParaRPr lang="en-US" sz="2800" dirty="0"/>
          </a:p>
        </p:txBody>
      </p:sp>
      <p:sp>
        <p:nvSpPr>
          <p:cNvPr id="14" name="Text 12"/>
          <p:cNvSpPr/>
          <p:nvPr/>
        </p:nvSpPr>
        <p:spPr>
          <a:xfrm>
            <a:off x="8229600" y="4974336"/>
            <a:ext cx="3200400" cy="320040"/>
          </a:xfrm>
          <a:prstGeom prst="rect">
            <a:avLst/>
          </a:prstGeom>
          <a:noFill/>
          <a:ln/>
        </p:spPr>
        <p:txBody>
          <a:bodyPr wrap="square" lIns="0" tIns="0" rIns="0" bIns="0" rtlCol="0" anchor="ctr"/>
          <a:lstStyle/>
          <a:p>
            <a:pPr indent="0" marL="0">
              <a:buNone/>
            </a:pPr>
            <a:r>
              <a:rPr lang="en-US" sz="1100" spc="300" kern="0" dirty="0">
                <a:solidFill>
                  <a:srgbClr val="B8C5D6"/>
                </a:solidFill>
                <a:latin typeface="Yu Gothic" pitchFamily="34" charset="0"/>
                <a:ea typeface="Yu Gothic" pitchFamily="34" charset="-122"/>
                <a:cs typeface="Yu Gothic" pitchFamily="34" charset="-120"/>
              </a:rPr>
              <a:t>初回サンプル</a:t>
            </a:r>
            <a:endParaRPr lang="en-US" sz="1100" dirty="0"/>
          </a:p>
        </p:txBody>
      </p:sp>
      <p:sp>
        <p:nvSpPr>
          <p:cNvPr id="15" name="Text 13"/>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16" name="Text 14"/>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コア 技術</a:t>
            </a:r>
            <a:endParaRPr lang="en-US" sz="1000" dirty="0"/>
          </a:p>
        </p:txBody>
      </p:sp>
      <p:sp>
        <p:nvSpPr>
          <p:cNvPr id="3" name="Text 1"/>
          <p:cNvSpPr/>
          <p:nvPr/>
        </p:nvSpPr>
        <p:spPr>
          <a:xfrm>
            <a:off x="640080" y="960120"/>
            <a:ext cx="10972800" cy="914400"/>
          </a:xfrm>
          <a:prstGeom prst="rect">
            <a:avLst/>
          </a:prstGeom>
          <a:noFill/>
          <a:ln/>
        </p:spPr>
        <p:txBody>
          <a:bodyPr wrap="square" lIns="0" tIns="0" rIns="0" bIns="0" rtlCol="0" anchor="ctr"/>
          <a:lstStyle/>
          <a:p>
            <a:pPr indent="0" marL="0">
              <a:buNone/>
            </a:pPr>
            <a:r>
              <a:rPr lang="en-US" sz="3600" b="1" dirty="0">
                <a:solidFill>
                  <a:srgbClr val="0A1628"/>
                </a:solidFill>
                <a:latin typeface="Yu Gothic" pitchFamily="34" charset="0"/>
                <a:ea typeface="Yu Gothic" pitchFamily="34" charset="-122"/>
                <a:cs typeface="Yu Gothic" pitchFamily="34" charset="-120"/>
              </a:rPr>
              <a:t>センシング · エッジAI · BLE の統合</a:t>
            </a:r>
            <a:endParaRPr lang="en-US" sz="3600" dirty="0"/>
          </a:p>
        </p:txBody>
      </p:sp>
      <p:sp>
        <p:nvSpPr>
          <p:cNvPr id="4" name="Shape 2"/>
          <p:cNvSpPr/>
          <p:nvPr/>
        </p:nvSpPr>
        <p:spPr>
          <a:xfrm>
            <a:off x="640080" y="2377440"/>
            <a:ext cx="3611880" cy="365760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5" name="Shape 3"/>
          <p:cNvSpPr/>
          <p:nvPr/>
        </p:nvSpPr>
        <p:spPr>
          <a:xfrm>
            <a:off x="640080" y="2377440"/>
            <a:ext cx="3611880" cy="73152"/>
          </a:xfrm>
          <a:prstGeom prst="rect">
            <a:avLst/>
          </a:prstGeom>
          <a:solidFill>
            <a:srgbClr val="38BDF8"/>
          </a:solidFill>
          <a:ln w="12700">
            <a:solidFill>
              <a:srgbClr val="38BDF8"/>
            </a:solidFill>
            <a:prstDash val="solid"/>
          </a:ln>
        </p:spPr>
      </p:sp>
      <p:sp>
        <p:nvSpPr>
          <p:cNvPr id="6" name="Text 4"/>
          <p:cNvSpPr/>
          <p:nvPr/>
        </p:nvSpPr>
        <p:spPr>
          <a:xfrm>
            <a:off x="1005840" y="2697480"/>
            <a:ext cx="2880360" cy="1280160"/>
          </a:xfrm>
          <a:prstGeom prst="rect">
            <a:avLst/>
          </a:prstGeom>
          <a:noFill/>
          <a:ln/>
        </p:spPr>
        <p:txBody>
          <a:bodyPr wrap="square" lIns="0" tIns="0" rIns="0" bIns="0" rtlCol="0" anchor="ctr"/>
          <a:lstStyle/>
          <a:p>
            <a:pPr indent="0" marL="0">
              <a:buNone/>
            </a:pPr>
            <a:r>
              <a:rPr lang="en-US" sz="8800" b="1" dirty="0">
                <a:solidFill>
                  <a:srgbClr val="38BDF8"/>
                </a:solidFill>
                <a:latin typeface="Yu Gothic" pitchFamily="34" charset="0"/>
                <a:ea typeface="Yu Gothic" pitchFamily="34" charset="-122"/>
                <a:cs typeface="Yu Gothic" pitchFamily="34" charset="-120"/>
              </a:rPr>
              <a:t>S</a:t>
            </a:r>
            <a:endParaRPr lang="en-US" sz="8800" dirty="0"/>
          </a:p>
        </p:txBody>
      </p:sp>
      <p:sp>
        <p:nvSpPr>
          <p:cNvPr id="7" name="Text 5"/>
          <p:cNvSpPr/>
          <p:nvPr/>
        </p:nvSpPr>
        <p:spPr>
          <a:xfrm>
            <a:off x="1005840" y="4069080"/>
            <a:ext cx="2880360" cy="411480"/>
          </a:xfrm>
          <a:prstGeom prst="rect">
            <a:avLst/>
          </a:prstGeom>
          <a:noFill/>
          <a:ln/>
        </p:spPr>
        <p:txBody>
          <a:bodyPr wrap="square" lIns="0" tIns="0" rIns="0" bIns="0" rtlCol="0" anchor="ctr"/>
          <a:lstStyle/>
          <a:p>
            <a:pPr indent="0" marL="0">
              <a:buNone/>
            </a:pPr>
            <a:r>
              <a:rPr lang="en-US" sz="1800" b="1" dirty="0">
                <a:solidFill>
                  <a:srgbClr val="0A1628"/>
                </a:solidFill>
                <a:latin typeface="Yu Gothic" pitchFamily="34" charset="0"/>
                <a:ea typeface="Yu Gothic" pitchFamily="34" charset="-122"/>
                <a:cs typeface="Yu Gothic" pitchFamily="34" charset="-120"/>
              </a:rPr>
              <a:t>マルチチャンネルセンシング</a:t>
            </a:r>
            <a:endParaRPr lang="en-US" sz="1800" dirty="0"/>
          </a:p>
        </p:txBody>
      </p:sp>
      <p:sp>
        <p:nvSpPr>
          <p:cNvPr id="8" name="Text 6"/>
          <p:cNvSpPr/>
          <p:nvPr/>
        </p:nvSpPr>
        <p:spPr>
          <a:xfrm>
            <a:off x="1005840" y="4480560"/>
            <a:ext cx="2880360" cy="274320"/>
          </a:xfrm>
          <a:prstGeom prst="rect">
            <a:avLst/>
          </a:prstGeom>
          <a:noFill/>
          <a:ln/>
        </p:spPr>
        <p:txBody>
          <a:bodyPr wrap="square" lIns="0" tIns="0" rIns="0" bIns="0" rtlCol="0" anchor="ctr"/>
          <a:lstStyle/>
          <a:p>
            <a:pPr indent="0" marL="0">
              <a:buNone/>
            </a:pPr>
            <a:r>
              <a:rPr lang="en-US" sz="900" spc="300" kern="0" dirty="0">
                <a:solidFill>
                  <a:srgbClr val="94A3B8"/>
                </a:solidFill>
                <a:latin typeface="Yu Gothic" pitchFamily="34" charset="0"/>
                <a:ea typeface="Yu Gothic" pitchFamily="34" charset="-122"/>
                <a:cs typeface="Yu Gothic" pitchFamily="34" charset="-120"/>
              </a:rPr>
              <a:t>センシング</a:t>
            </a:r>
            <a:endParaRPr lang="en-US" sz="900" dirty="0"/>
          </a:p>
        </p:txBody>
      </p:sp>
      <p:sp>
        <p:nvSpPr>
          <p:cNvPr id="9" name="Text 7"/>
          <p:cNvSpPr/>
          <p:nvPr/>
        </p:nvSpPr>
        <p:spPr>
          <a:xfrm>
            <a:off x="1005840" y="4892040"/>
            <a:ext cx="2880360" cy="100584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1つのBLE ICで最大8チャンネルのセンサー（I²C/GPIO）を駆動。温度、湿度、振動、CO₂、PM2.5、PIRなど多彩なセンサーに対応。</a:t>
            </a:r>
            <a:endParaRPr lang="en-US" sz="1200" dirty="0"/>
          </a:p>
        </p:txBody>
      </p:sp>
      <p:sp>
        <p:nvSpPr>
          <p:cNvPr id="10" name="Shape 8"/>
          <p:cNvSpPr/>
          <p:nvPr/>
        </p:nvSpPr>
        <p:spPr>
          <a:xfrm>
            <a:off x="4434840" y="2377440"/>
            <a:ext cx="3611880" cy="365760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11" name="Shape 9"/>
          <p:cNvSpPr/>
          <p:nvPr/>
        </p:nvSpPr>
        <p:spPr>
          <a:xfrm>
            <a:off x="4434840" y="2377440"/>
            <a:ext cx="3611880" cy="73152"/>
          </a:xfrm>
          <a:prstGeom prst="rect">
            <a:avLst/>
          </a:prstGeom>
          <a:solidFill>
            <a:srgbClr val="8B5CF6"/>
          </a:solidFill>
          <a:ln w="12700">
            <a:solidFill>
              <a:srgbClr val="8B5CF6"/>
            </a:solidFill>
            <a:prstDash val="solid"/>
          </a:ln>
        </p:spPr>
      </p:sp>
      <p:sp>
        <p:nvSpPr>
          <p:cNvPr id="12" name="Text 10"/>
          <p:cNvSpPr/>
          <p:nvPr/>
        </p:nvSpPr>
        <p:spPr>
          <a:xfrm>
            <a:off x="4800600" y="2697480"/>
            <a:ext cx="2880360" cy="1280160"/>
          </a:xfrm>
          <a:prstGeom prst="rect">
            <a:avLst/>
          </a:prstGeom>
          <a:noFill/>
          <a:ln/>
        </p:spPr>
        <p:txBody>
          <a:bodyPr wrap="square" lIns="0" tIns="0" rIns="0" bIns="0" rtlCol="0" anchor="ctr"/>
          <a:lstStyle/>
          <a:p>
            <a:pPr indent="0" marL="0">
              <a:buNone/>
            </a:pPr>
            <a:r>
              <a:rPr lang="en-US" sz="8800" b="1" dirty="0">
                <a:solidFill>
                  <a:srgbClr val="8B5CF6"/>
                </a:solidFill>
                <a:latin typeface="Yu Gothic" pitchFamily="34" charset="0"/>
                <a:ea typeface="Yu Gothic" pitchFamily="34" charset="-122"/>
                <a:cs typeface="Yu Gothic" pitchFamily="34" charset="-120"/>
              </a:rPr>
              <a:t>C</a:t>
            </a:r>
            <a:endParaRPr lang="en-US" sz="8800" dirty="0"/>
          </a:p>
        </p:txBody>
      </p:sp>
      <p:sp>
        <p:nvSpPr>
          <p:cNvPr id="13" name="Text 11"/>
          <p:cNvSpPr/>
          <p:nvPr/>
        </p:nvSpPr>
        <p:spPr>
          <a:xfrm>
            <a:off x="4800600" y="4069080"/>
            <a:ext cx="2880360" cy="411480"/>
          </a:xfrm>
          <a:prstGeom prst="rect">
            <a:avLst/>
          </a:prstGeom>
          <a:noFill/>
          <a:ln/>
        </p:spPr>
        <p:txBody>
          <a:bodyPr wrap="square" lIns="0" tIns="0" rIns="0" bIns="0" rtlCol="0" anchor="ctr"/>
          <a:lstStyle/>
          <a:p>
            <a:pPr indent="0" marL="0">
              <a:buNone/>
            </a:pPr>
            <a:r>
              <a:rPr lang="en-US" sz="1800" b="1" dirty="0">
                <a:solidFill>
                  <a:srgbClr val="0A1628"/>
                </a:solidFill>
                <a:latin typeface="Yu Gothic" pitchFamily="34" charset="0"/>
                <a:ea typeface="Yu Gothic" pitchFamily="34" charset="-122"/>
                <a:cs typeface="Yu Gothic" pitchFamily="34" charset="-120"/>
              </a:rPr>
              <a:t>エッジ AI 処理</a:t>
            </a:r>
            <a:endParaRPr lang="en-US" sz="1800" dirty="0"/>
          </a:p>
        </p:txBody>
      </p:sp>
      <p:sp>
        <p:nvSpPr>
          <p:cNvPr id="14" name="Text 12"/>
          <p:cNvSpPr/>
          <p:nvPr/>
        </p:nvSpPr>
        <p:spPr>
          <a:xfrm>
            <a:off x="4800600" y="4480560"/>
            <a:ext cx="2880360" cy="274320"/>
          </a:xfrm>
          <a:prstGeom prst="rect">
            <a:avLst/>
          </a:prstGeom>
          <a:noFill/>
          <a:ln/>
        </p:spPr>
        <p:txBody>
          <a:bodyPr wrap="square" lIns="0" tIns="0" rIns="0" bIns="0" rtlCol="0" anchor="ctr"/>
          <a:lstStyle/>
          <a:p>
            <a:pPr indent="0" marL="0">
              <a:buNone/>
            </a:pPr>
            <a:r>
              <a:rPr lang="en-US" sz="900" spc="300" kern="0" dirty="0">
                <a:solidFill>
                  <a:srgbClr val="94A3B8"/>
                </a:solidFill>
                <a:latin typeface="Yu Gothic" pitchFamily="34" charset="0"/>
                <a:ea typeface="Yu Gothic" pitchFamily="34" charset="-122"/>
                <a:cs typeface="Yu Gothic" pitchFamily="34" charset="-120"/>
              </a:rPr>
              <a:t>エッジ AI</a:t>
            </a:r>
            <a:endParaRPr lang="en-US" sz="900" dirty="0"/>
          </a:p>
        </p:txBody>
      </p:sp>
      <p:sp>
        <p:nvSpPr>
          <p:cNvPr id="15" name="Text 13"/>
          <p:cNvSpPr/>
          <p:nvPr/>
        </p:nvSpPr>
        <p:spPr>
          <a:xfrm>
            <a:off x="4800600" y="4892040"/>
            <a:ext cx="2880360" cy="100584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デバイス上でリアルタイム分類と閾値判定を実行。クラウド非依存の異常検知をミリ秒単位で実現。</a:t>
            </a:r>
            <a:endParaRPr lang="en-US" sz="1200" dirty="0"/>
          </a:p>
        </p:txBody>
      </p:sp>
      <p:sp>
        <p:nvSpPr>
          <p:cNvPr id="16" name="Shape 14"/>
          <p:cNvSpPr/>
          <p:nvPr/>
        </p:nvSpPr>
        <p:spPr>
          <a:xfrm>
            <a:off x="8229600" y="2377440"/>
            <a:ext cx="3611880" cy="365760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17" name="Shape 15"/>
          <p:cNvSpPr/>
          <p:nvPr/>
        </p:nvSpPr>
        <p:spPr>
          <a:xfrm>
            <a:off x="8229600" y="2377440"/>
            <a:ext cx="3611880" cy="73152"/>
          </a:xfrm>
          <a:prstGeom prst="rect">
            <a:avLst/>
          </a:prstGeom>
          <a:solidFill>
            <a:srgbClr val="10B981"/>
          </a:solidFill>
          <a:ln w="12700">
            <a:solidFill>
              <a:srgbClr val="10B981"/>
            </a:solidFill>
            <a:prstDash val="solid"/>
          </a:ln>
        </p:spPr>
      </p:sp>
      <p:sp>
        <p:nvSpPr>
          <p:cNvPr id="18" name="Text 16"/>
          <p:cNvSpPr/>
          <p:nvPr/>
        </p:nvSpPr>
        <p:spPr>
          <a:xfrm>
            <a:off x="8595360" y="2697480"/>
            <a:ext cx="2880360" cy="1280160"/>
          </a:xfrm>
          <a:prstGeom prst="rect">
            <a:avLst/>
          </a:prstGeom>
          <a:noFill/>
          <a:ln/>
        </p:spPr>
        <p:txBody>
          <a:bodyPr wrap="square" lIns="0" tIns="0" rIns="0" bIns="0" rtlCol="0" anchor="ctr"/>
          <a:lstStyle/>
          <a:p>
            <a:pPr indent="0" marL="0">
              <a:buNone/>
            </a:pPr>
            <a:r>
              <a:rPr lang="en-US" sz="8800" b="1" dirty="0">
                <a:solidFill>
                  <a:srgbClr val="10B981"/>
                </a:solidFill>
                <a:latin typeface="Yu Gothic" pitchFamily="34" charset="0"/>
                <a:ea typeface="Yu Gothic" pitchFamily="34" charset="-122"/>
                <a:cs typeface="Yu Gothic" pitchFamily="34" charset="-120"/>
              </a:rPr>
              <a:t>T</a:t>
            </a:r>
            <a:endParaRPr lang="en-US" sz="8800" dirty="0"/>
          </a:p>
        </p:txBody>
      </p:sp>
      <p:sp>
        <p:nvSpPr>
          <p:cNvPr id="19" name="Text 17"/>
          <p:cNvSpPr/>
          <p:nvPr/>
        </p:nvSpPr>
        <p:spPr>
          <a:xfrm>
            <a:off x="8595360" y="4069080"/>
            <a:ext cx="2880360" cy="411480"/>
          </a:xfrm>
          <a:prstGeom prst="rect">
            <a:avLst/>
          </a:prstGeom>
          <a:noFill/>
          <a:ln/>
        </p:spPr>
        <p:txBody>
          <a:bodyPr wrap="square" lIns="0" tIns="0" rIns="0" bIns="0" rtlCol="0" anchor="ctr"/>
          <a:lstStyle/>
          <a:p>
            <a:pPr indent="0" marL="0">
              <a:buNone/>
            </a:pPr>
            <a:r>
              <a:rPr lang="en-US" sz="1800" b="1" dirty="0">
                <a:solidFill>
                  <a:srgbClr val="0A1628"/>
                </a:solidFill>
                <a:latin typeface="Yu Gothic" pitchFamily="34" charset="0"/>
                <a:ea typeface="Yu Gothic" pitchFamily="34" charset="-122"/>
                <a:cs typeface="Yu Gothic" pitchFamily="34" charset="-120"/>
              </a:rPr>
              <a:t>超低消費電力 BLE</a:t>
            </a:r>
            <a:endParaRPr lang="en-US" sz="1800" dirty="0"/>
          </a:p>
        </p:txBody>
      </p:sp>
      <p:sp>
        <p:nvSpPr>
          <p:cNvPr id="20" name="Text 18"/>
          <p:cNvSpPr/>
          <p:nvPr/>
        </p:nvSpPr>
        <p:spPr>
          <a:xfrm>
            <a:off x="8595360" y="4480560"/>
            <a:ext cx="2880360" cy="274320"/>
          </a:xfrm>
          <a:prstGeom prst="rect">
            <a:avLst/>
          </a:prstGeom>
          <a:noFill/>
          <a:ln/>
        </p:spPr>
        <p:txBody>
          <a:bodyPr wrap="square" lIns="0" tIns="0" rIns="0" bIns="0" rtlCol="0" anchor="ctr"/>
          <a:lstStyle/>
          <a:p>
            <a:pPr indent="0" marL="0">
              <a:buNone/>
            </a:pPr>
            <a:r>
              <a:rPr lang="en-US" sz="900" spc="300" kern="0" dirty="0">
                <a:solidFill>
                  <a:srgbClr val="94A3B8"/>
                </a:solidFill>
                <a:latin typeface="Yu Gothic" pitchFamily="34" charset="0"/>
                <a:ea typeface="Yu Gothic" pitchFamily="34" charset="-122"/>
                <a:cs typeface="Yu Gothic" pitchFamily="34" charset="-120"/>
              </a:rPr>
              <a:t>BLE 伝送</a:t>
            </a:r>
            <a:endParaRPr lang="en-US" sz="900" dirty="0"/>
          </a:p>
        </p:txBody>
      </p:sp>
      <p:sp>
        <p:nvSpPr>
          <p:cNvPr id="21" name="Text 19"/>
          <p:cNvSpPr/>
          <p:nvPr/>
        </p:nvSpPr>
        <p:spPr>
          <a:xfrm>
            <a:off x="8595360" y="4892040"/>
            <a:ext cx="2880360" cy="100584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ボタン電池1個で数年動作。Long Rangeモード（&gt;300m）とMeshネットワーキングに対応し、大規模展開に最適。</a:t>
            </a:r>
            <a:endParaRPr lang="en-US" sz="1200" dirty="0"/>
          </a:p>
        </p:txBody>
      </p:sp>
      <p:sp>
        <p:nvSpPr>
          <p:cNvPr id="22" name="Text 20"/>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23" name="Text 21"/>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主要 能力</a:t>
            </a:r>
            <a:endParaRPr lang="en-US" sz="1000" dirty="0"/>
          </a:p>
        </p:txBody>
      </p:sp>
      <p:sp>
        <p:nvSpPr>
          <p:cNvPr id="3" name="Text 1"/>
          <p:cNvSpPr/>
          <p:nvPr/>
        </p:nvSpPr>
        <p:spPr>
          <a:xfrm>
            <a:off x="640080" y="960120"/>
            <a:ext cx="10972800" cy="914400"/>
          </a:xfrm>
          <a:prstGeom prst="rect">
            <a:avLst/>
          </a:prstGeom>
          <a:noFill/>
          <a:ln/>
        </p:spPr>
        <p:txBody>
          <a:bodyPr wrap="square" lIns="0" tIns="0" rIns="0" bIns="0" rtlCol="0" anchor="ctr"/>
          <a:lstStyle/>
          <a:p>
            <a:pPr indent="0" marL="0">
              <a:buNone/>
            </a:pPr>
            <a:r>
              <a:rPr lang="en-US" sz="3600" b="1" dirty="0">
                <a:solidFill>
                  <a:srgbClr val="0A1628"/>
                </a:solidFill>
                <a:latin typeface="Yu Gothic" pitchFamily="34" charset="0"/>
                <a:ea typeface="Yu Gothic" pitchFamily="34" charset="-122"/>
                <a:cs typeface="Yu Gothic" pitchFamily="34" charset="-120"/>
              </a:rPr>
              <a:t>Humbo Technology を選ぶ理由</a:t>
            </a:r>
            <a:endParaRPr lang="en-US" sz="3600" dirty="0"/>
          </a:p>
        </p:txBody>
      </p:sp>
      <p:sp>
        <p:nvSpPr>
          <p:cNvPr id="4" name="Shape 2"/>
          <p:cNvSpPr/>
          <p:nvPr/>
        </p:nvSpPr>
        <p:spPr>
          <a:xfrm>
            <a:off x="640080" y="2377440"/>
            <a:ext cx="5440680" cy="178308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5" name="Shape 3"/>
          <p:cNvSpPr/>
          <p:nvPr/>
        </p:nvSpPr>
        <p:spPr>
          <a:xfrm>
            <a:off x="960120" y="2743200"/>
            <a:ext cx="164592" cy="164592"/>
          </a:xfrm>
          <a:prstGeom prst="ellipse">
            <a:avLst/>
          </a:prstGeom>
          <a:solidFill>
            <a:srgbClr val="38BDF8"/>
          </a:solidFill>
          <a:ln w="12700">
            <a:solidFill>
              <a:srgbClr val="38BDF8"/>
            </a:solidFill>
            <a:prstDash val="solid"/>
          </a:ln>
        </p:spPr>
      </p:sp>
      <p:sp>
        <p:nvSpPr>
          <p:cNvPr id="6" name="Text 4"/>
          <p:cNvSpPr/>
          <p:nvPr/>
        </p:nvSpPr>
        <p:spPr>
          <a:xfrm>
            <a:off x="1280160" y="2651760"/>
            <a:ext cx="4526280" cy="411480"/>
          </a:xfrm>
          <a:prstGeom prst="rect">
            <a:avLst/>
          </a:prstGeom>
          <a:noFill/>
          <a:ln/>
        </p:spPr>
        <p:txBody>
          <a:bodyPr wrap="square" lIns="0" tIns="0" rIns="0" bIns="0" rtlCol="0" anchor="ctr"/>
          <a:lstStyle/>
          <a:p>
            <a:pPr indent="0" marL="0">
              <a:buNone/>
            </a:pPr>
            <a:r>
              <a:rPr lang="en-US" sz="1700" b="1" dirty="0">
                <a:solidFill>
                  <a:srgbClr val="0A1628"/>
                </a:solidFill>
                <a:latin typeface="Yu Gothic" pitchFamily="34" charset="0"/>
                <a:ea typeface="Yu Gothic" pitchFamily="34" charset="-122"/>
                <a:cs typeface="Yu Gothic" pitchFamily="34" charset="-120"/>
              </a:rPr>
              <a:t>2つの製品ライン</a:t>
            </a:r>
            <a:endParaRPr lang="en-US" sz="1700" dirty="0"/>
          </a:p>
        </p:txBody>
      </p:sp>
      <p:sp>
        <p:nvSpPr>
          <p:cNvPr id="7" name="Text 5"/>
          <p:cNvSpPr/>
          <p:nvPr/>
        </p:nvSpPr>
        <p:spPr>
          <a:xfrm>
            <a:off x="1280160" y="3154680"/>
            <a:ext cx="4526280" cy="91440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マルチチャンネルセンシングプラットフォームから使い捨てスマートラベルまで、SH/HBシリーズがBLEセンシングの全領域をカバー。</a:t>
            </a:r>
            <a:endParaRPr lang="en-US" sz="1200" dirty="0"/>
          </a:p>
        </p:txBody>
      </p:sp>
      <p:sp>
        <p:nvSpPr>
          <p:cNvPr id="8" name="Shape 6"/>
          <p:cNvSpPr/>
          <p:nvPr/>
        </p:nvSpPr>
        <p:spPr>
          <a:xfrm>
            <a:off x="6263640" y="2377440"/>
            <a:ext cx="5440680" cy="178308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9" name="Shape 7"/>
          <p:cNvSpPr/>
          <p:nvPr/>
        </p:nvSpPr>
        <p:spPr>
          <a:xfrm>
            <a:off x="6583680" y="2743200"/>
            <a:ext cx="164592" cy="164592"/>
          </a:xfrm>
          <a:prstGeom prst="ellipse">
            <a:avLst/>
          </a:prstGeom>
          <a:solidFill>
            <a:srgbClr val="38BDF8"/>
          </a:solidFill>
          <a:ln w="12700">
            <a:solidFill>
              <a:srgbClr val="38BDF8"/>
            </a:solidFill>
            <a:prstDash val="solid"/>
          </a:ln>
        </p:spPr>
      </p:sp>
      <p:sp>
        <p:nvSpPr>
          <p:cNvPr id="10" name="Text 8"/>
          <p:cNvSpPr/>
          <p:nvPr/>
        </p:nvSpPr>
        <p:spPr>
          <a:xfrm>
            <a:off x="6903720" y="2651760"/>
            <a:ext cx="4526280" cy="411480"/>
          </a:xfrm>
          <a:prstGeom prst="rect">
            <a:avLst/>
          </a:prstGeom>
          <a:noFill/>
          <a:ln/>
        </p:spPr>
        <p:txBody>
          <a:bodyPr wrap="square" lIns="0" tIns="0" rIns="0" bIns="0" rtlCol="0" anchor="ctr"/>
          <a:lstStyle/>
          <a:p>
            <a:pPr indent="0" marL="0">
              <a:buNone/>
            </a:pPr>
            <a:r>
              <a:rPr lang="en-US" sz="1700" b="1" dirty="0">
                <a:solidFill>
                  <a:srgbClr val="0A1628"/>
                </a:solidFill>
                <a:latin typeface="Yu Gothic" pitchFamily="34" charset="0"/>
                <a:ea typeface="Yu Gothic" pitchFamily="34" charset="-122"/>
                <a:cs typeface="Yu Gothic" pitchFamily="34" charset="-120"/>
              </a:rPr>
              <a:t>ノーコード SmartBeacon</a:t>
            </a:r>
            <a:endParaRPr lang="en-US" sz="1700" dirty="0"/>
          </a:p>
        </p:txBody>
      </p:sp>
      <p:sp>
        <p:nvSpPr>
          <p:cNvPr id="11" name="Text 9"/>
          <p:cNvSpPr/>
          <p:nvPr/>
        </p:nvSpPr>
        <p:spPr>
          <a:xfrm>
            <a:off x="6903720" y="3154680"/>
            <a:ext cx="4526280" cy="91440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HB100/HB120はファームウェア開発不要。出荷時に広告間隔、センサーサンプリング、データロギングをプリセット。</a:t>
            </a:r>
            <a:endParaRPr lang="en-US" sz="1200" dirty="0"/>
          </a:p>
        </p:txBody>
      </p:sp>
      <p:sp>
        <p:nvSpPr>
          <p:cNvPr id="12" name="Shape 10"/>
          <p:cNvSpPr/>
          <p:nvPr/>
        </p:nvSpPr>
        <p:spPr>
          <a:xfrm>
            <a:off x="640080" y="4343400"/>
            <a:ext cx="5440680" cy="178308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13" name="Shape 11"/>
          <p:cNvSpPr/>
          <p:nvPr/>
        </p:nvSpPr>
        <p:spPr>
          <a:xfrm>
            <a:off x="960120" y="4709160"/>
            <a:ext cx="164592" cy="164592"/>
          </a:xfrm>
          <a:prstGeom prst="ellipse">
            <a:avLst/>
          </a:prstGeom>
          <a:solidFill>
            <a:srgbClr val="38BDF8"/>
          </a:solidFill>
          <a:ln w="12700">
            <a:solidFill>
              <a:srgbClr val="38BDF8"/>
            </a:solidFill>
            <a:prstDash val="solid"/>
          </a:ln>
        </p:spPr>
      </p:sp>
      <p:sp>
        <p:nvSpPr>
          <p:cNvPr id="14" name="Text 12"/>
          <p:cNvSpPr/>
          <p:nvPr/>
        </p:nvSpPr>
        <p:spPr>
          <a:xfrm>
            <a:off x="1280160" y="4617720"/>
            <a:ext cx="4526280" cy="411480"/>
          </a:xfrm>
          <a:prstGeom prst="rect">
            <a:avLst/>
          </a:prstGeom>
          <a:noFill/>
          <a:ln/>
        </p:spPr>
        <p:txBody>
          <a:bodyPr wrap="square" lIns="0" tIns="0" rIns="0" bIns="0" rtlCol="0" anchor="ctr"/>
          <a:lstStyle/>
          <a:p>
            <a:pPr indent="0" marL="0">
              <a:buNone/>
            </a:pPr>
            <a:r>
              <a:rPr lang="en-US" sz="1700" b="1" dirty="0">
                <a:solidFill>
                  <a:srgbClr val="0A1628"/>
                </a:solidFill>
                <a:latin typeface="Yu Gothic" pitchFamily="34" charset="0"/>
                <a:ea typeface="Yu Gothic" pitchFamily="34" charset="-122"/>
                <a:cs typeface="Yu Gothic" pitchFamily="34" charset="-120"/>
              </a:rPr>
              <a:t>モジュラー Sensor Hub</a:t>
            </a:r>
            <a:endParaRPr lang="en-US" sz="1700" dirty="0"/>
          </a:p>
        </p:txBody>
      </p:sp>
      <p:sp>
        <p:nvSpPr>
          <p:cNvPr id="15" name="Text 13"/>
          <p:cNvSpPr/>
          <p:nvPr/>
        </p:nvSpPr>
        <p:spPr>
          <a:xfrm>
            <a:off x="1280160" y="5120640"/>
            <a:ext cx="4526280" cy="91440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SH-100（2ch）・SH-200（8ch）、フレキシブルなI²C/GPIO拡張。データロギング、エッジ分類、BLE長距離通信を内蔵。</a:t>
            </a:r>
            <a:endParaRPr lang="en-US" sz="1200" dirty="0"/>
          </a:p>
        </p:txBody>
      </p:sp>
      <p:sp>
        <p:nvSpPr>
          <p:cNvPr id="16" name="Shape 14"/>
          <p:cNvSpPr/>
          <p:nvPr/>
        </p:nvSpPr>
        <p:spPr>
          <a:xfrm>
            <a:off x="6263640" y="4343400"/>
            <a:ext cx="5440680" cy="178308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17" name="Shape 15"/>
          <p:cNvSpPr/>
          <p:nvPr/>
        </p:nvSpPr>
        <p:spPr>
          <a:xfrm>
            <a:off x="6583680" y="4709160"/>
            <a:ext cx="164592" cy="164592"/>
          </a:xfrm>
          <a:prstGeom prst="ellipse">
            <a:avLst/>
          </a:prstGeom>
          <a:solidFill>
            <a:srgbClr val="38BDF8"/>
          </a:solidFill>
          <a:ln w="12700">
            <a:solidFill>
              <a:srgbClr val="38BDF8"/>
            </a:solidFill>
            <a:prstDash val="solid"/>
          </a:ln>
        </p:spPr>
      </p:sp>
      <p:sp>
        <p:nvSpPr>
          <p:cNvPr id="18" name="Text 16"/>
          <p:cNvSpPr/>
          <p:nvPr/>
        </p:nvSpPr>
        <p:spPr>
          <a:xfrm>
            <a:off x="6903720" y="4617720"/>
            <a:ext cx="4526280" cy="411480"/>
          </a:xfrm>
          <a:prstGeom prst="rect">
            <a:avLst/>
          </a:prstGeom>
          <a:noFill/>
          <a:ln/>
        </p:spPr>
        <p:txBody>
          <a:bodyPr wrap="square" lIns="0" tIns="0" rIns="0" bIns="0" rtlCol="0" anchor="ctr"/>
          <a:lstStyle/>
          <a:p>
            <a:pPr indent="0" marL="0">
              <a:buNone/>
            </a:pPr>
            <a:r>
              <a:rPr lang="en-US" sz="1700" b="1" dirty="0">
                <a:solidFill>
                  <a:srgbClr val="0A1628"/>
                </a:solidFill>
                <a:latin typeface="Yu Gothic" pitchFamily="34" charset="0"/>
                <a:ea typeface="Yu Gothic" pitchFamily="34" charset="-122"/>
                <a:cs typeface="Yu Gothic" pitchFamily="34" charset="-120"/>
              </a:rPr>
              <a:t>モバイルアプリ付属</a:t>
            </a:r>
            <a:endParaRPr lang="en-US" sz="1700" dirty="0"/>
          </a:p>
        </p:txBody>
      </p:sp>
      <p:sp>
        <p:nvSpPr>
          <p:cNvPr id="19" name="Text 17"/>
          <p:cNvSpPr/>
          <p:nvPr/>
        </p:nvSpPr>
        <p:spPr>
          <a:xfrm>
            <a:off x="6903720" y="5120640"/>
            <a:ext cx="4526280" cy="914400"/>
          </a:xfrm>
          <a:prstGeom prst="rect">
            <a:avLst/>
          </a:prstGeom>
          <a:noFill/>
          <a:ln/>
        </p:spPr>
        <p:txBody>
          <a:bodyPr wrap="square" lIns="0" tIns="0" rIns="0" bIns="0" rtlCol="0" anchor="ctr"/>
          <a:lstStyle/>
          <a:p>
            <a:pPr indent="0" marL="0">
              <a:spcAft>
                <a:spcPts val="200"/>
              </a:spcAft>
              <a:buNone/>
            </a:pPr>
            <a:r>
              <a:rPr lang="en-US" sz="1200" dirty="0">
                <a:solidFill>
                  <a:srgbClr val="64748B"/>
                </a:solidFill>
                <a:latin typeface="Yu Gothic" pitchFamily="34" charset="0"/>
                <a:ea typeface="Yu Gothic" pitchFamily="34" charset="-122"/>
                <a:cs typeface="Yu Gothic" pitchFamily="34" charset="-120"/>
              </a:rPr>
              <a:t>自社製モバイルアプリが両製品ラインに直接対応。リアルタイムダッシュボード、アラート、OTA設定を提供。</a:t>
            </a:r>
            <a:endParaRPr lang="en-US" sz="1200" dirty="0"/>
          </a:p>
        </p:txBody>
      </p:sp>
      <p:sp>
        <p:nvSpPr>
          <p:cNvPr id="20" name="Text 18"/>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21" name="Text 19"/>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ターゲット 市場</a:t>
            </a:r>
            <a:endParaRPr lang="en-US" sz="1000" dirty="0"/>
          </a:p>
        </p:txBody>
      </p:sp>
      <p:sp>
        <p:nvSpPr>
          <p:cNvPr id="3" name="Text 1"/>
          <p:cNvSpPr/>
          <p:nvPr/>
        </p:nvSpPr>
        <p:spPr>
          <a:xfrm>
            <a:off x="640080" y="960120"/>
            <a:ext cx="10972800" cy="914400"/>
          </a:xfrm>
          <a:prstGeom prst="rect">
            <a:avLst/>
          </a:prstGeom>
          <a:noFill/>
          <a:ln/>
        </p:spPr>
        <p:txBody>
          <a:bodyPr wrap="square" lIns="0" tIns="0" rIns="0" bIns="0" rtlCol="0" anchor="ctr"/>
          <a:lstStyle/>
          <a:p>
            <a:pPr indent="0" marL="0">
              <a:buNone/>
            </a:pPr>
            <a:r>
              <a:rPr lang="en-US" sz="3600" b="1" dirty="0">
                <a:solidFill>
                  <a:srgbClr val="0A1628"/>
                </a:solidFill>
                <a:latin typeface="Yu Gothic" pitchFamily="34" charset="0"/>
                <a:ea typeface="Yu Gothic" pitchFamily="34" charset="-122"/>
                <a:cs typeface="Yu Gothic" pitchFamily="34" charset="-120"/>
              </a:rPr>
              <a:t>産業アプリケーション</a:t>
            </a:r>
            <a:endParaRPr lang="en-US" sz="3600" dirty="0"/>
          </a:p>
        </p:txBody>
      </p:sp>
      <p:sp>
        <p:nvSpPr>
          <p:cNvPr id="4" name="Shape 2"/>
          <p:cNvSpPr/>
          <p:nvPr/>
        </p:nvSpPr>
        <p:spPr>
          <a:xfrm>
            <a:off x="640080" y="2377440"/>
            <a:ext cx="3611880" cy="3657600"/>
          </a:xfrm>
          <a:prstGeom prst="rect">
            <a:avLst/>
          </a:prstGeom>
          <a:solidFill>
            <a:srgbClr val="0F2044"/>
          </a:solidFill>
          <a:ln w="12700">
            <a:solidFill>
              <a:srgbClr val="0F2044"/>
            </a:solidFill>
            <a:prstDash val="solid"/>
          </a:ln>
          <a:effectLst>
            <a:outerShdw sx="100000" sy="100000" kx="0" ky="0" algn="bl" rotWithShape="0" blurRad="203200" dist="50800" dir="5400000">
              <a:srgbClr val="102449">
                <a:alpha val="15000"/>
              </a:srgbClr>
            </a:outerShdw>
          </a:effectLst>
        </p:spPr>
      </p:sp>
      <p:sp>
        <p:nvSpPr>
          <p:cNvPr id="5" name="Text 3"/>
          <p:cNvSpPr/>
          <p:nvPr/>
        </p:nvSpPr>
        <p:spPr>
          <a:xfrm>
            <a:off x="1005840" y="2697480"/>
            <a:ext cx="1371600" cy="914400"/>
          </a:xfrm>
          <a:prstGeom prst="rect">
            <a:avLst/>
          </a:prstGeom>
          <a:noFill/>
          <a:ln/>
        </p:spPr>
        <p:txBody>
          <a:bodyPr wrap="square" lIns="0" tIns="0" rIns="0" bIns="0" rtlCol="0" anchor="ctr"/>
          <a:lstStyle/>
          <a:p>
            <a:pPr indent="0" marL="0">
              <a:buNone/>
            </a:pPr>
            <a:r>
              <a:rPr lang="en-US" sz="4800" dirty="0">
                <a:solidFill>
                  <a:srgbClr val="000000"/>
                </a:solidFill>
                <a:latin typeface="Apple Color Emoji" pitchFamily="34" charset="0"/>
                <a:ea typeface="Apple Color Emoji" pitchFamily="34" charset="-122"/>
                <a:cs typeface="Apple Color Emoji" pitchFamily="34" charset="-120"/>
              </a:rPr>
              <a:t>🧊</a:t>
            </a:r>
            <a:endParaRPr lang="en-US" sz="4800" dirty="0"/>
          </a:p>
        </p:txBody>
      </p:sp>
      <p:sp>
        <p:nvSpPr>
          <p:cNvPr id="6" name="Text 4"/>
          <p:cNvSpPr/>
          <p:nvPr/>
        </p:nvSpPr>
        <p:spPr>
          <a:xfrm>
            <a:off x="1005840" y="3749040"/>
            <a:ext cx="2880360" cy="50292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コールドチェーン物流</a:t>
            </a:r>
            <a:endParaRPr lang="en-US" sz="2000" dirty="0"/>
          </a:p>
        </p:txBody>
      </p:sp>
      <p:sp>
        <p:nvSpPr>
          <p:cNvPr id="7" name="Text 5"/>
          <p:cNvSpPr/>
          <p:nvPr/>
        </p:nvSpPr>
        <p:spPr>
          <a:xfrm>
            <a:off x="1005840" y="4251960"/>
            <a:ext cx="2880360" cy="274320"/>
          </a:xfrm>
          <a:prstGeom prst="rect">
            <a:avLst/>
          </a:prstGeom>
          <a:noFill/>
          <a:ln/>
        </p:spPr>
        <p:txBody>
          <a:bodyPr wrap="square" lIns="0" tIns="0" rIns="0" bIns="0" rtlCol="0" anchor="ctr"/>
          <a:lstStyle/>
          <a:p>
            <a:pPr indent="0" marL="0">
              <a:buNone/>
            </a:pPr>
            <a:r>
              <a:rPr lang="en-US" sz="1000" spc="200" kern="0" dirty="0">
                <a:solidFill>
                  <a:srgbClr val="38BDF8"/>
                </a:solidFill>
                <a:latin typeface="Yu Gothic" pitchFamily="34" charset="0"/>
                <a:ea typeface="Yu Gothic" pitchFamily="34" charset="-122"/>
                <a:cs typeface="Yu Gothic" pitchFamily="34" charset="-120"/>
              </a:rPr>
              <a:t>医薬 · 食品 · 生鮮</a:t>
            </a:r>
            <a:endParaRPr lang="en-US" sz="1000" dirty="0"/>
          </a:p>
        </p:txBody>
      </p:sp>
      <p:sp>
        <p:nvSpPr>
          <p:cNvPr id="8" name="Text 6"/>
          <p:cNvSpPr/>
          <p:nvPr/>
        </p:nvSpPr>
        <p:spPr>
          <a:xfrm>
            <a:off x="1005840" y="4663440"/>
            <a:ext cx="2880360" cy="1280160"/>
          </a:xfrm>
          <a:prstGeom prst="rect">
            <a:avLst/>
          </a:prstGeom>
          <a:noFill/>
          <a:ln/>
        </p:spPr>
        <p:txBody>
          <a:bodyPr wrap="square" lIns="0" tIns="0" rIns="0" bIns="0" rtlCol="0" anchor="ctr"/>
          <a:lstStyle/>
          <a:p>
            <a:pPr indent="0" marL="0">
              <a:spcAft>
                <a:spcPts val="200"/>
              </a:spcAft>
              <a:buNone/>
            </a:pPr>
            <a:r>
              <a:rPr lang="en-US" sz="1200" dirty="0">
                <a:solidFill>
                  <a:srgbClr val="B8C5D6"/>
                </a:solidFill>
                <a:latin typeface="Yu Gothic" pitchFamily="34" charset="0"/>
                <a:ea typeface="Yu Gothic" pitchFamily="34" charset="-122"/>
                <a:cs typeface="Yu Gothic" pitchFamily="34" charset="-120"/>
              </a:rPr>
              <a:t>マルチセンサー監視（温度、湿度、振動、ドア）、データロギング、BLE長距離通信。損傷率を15～25%削減。世界のコールドチェーン市場は3,000億ドル超。</a:t>
            </a:r>
            <a:endParaRPr lang="en-US" sz="1200" dirty="0"/>
          </a:p>
        </p:txBody>
      </p:sp>
      <p:sp>
        <p:nvSpPr>
          <p:cNvPr id="9" name="Shape 7"/>
          <p:cNvSpPr/>
          <p:nvPr/>
        </p:nvSpPr>
        <p:spPr>
          <a:xfrm>
            <a:off x="4434840" y="2377440"/>
            <a:ext cx="3611880" cy="3657600"/>
          </a:xfrm>
          <a:prstGeom prst="rect">
            <a:avLst/>
          </a:prstGeom>
          <a:solidFill>
            <a:srgbClr val="1A1A2E"/>
          </a:solidFill>
          <a:ln w="12700">
            <a:solidFill>
              <a:srgbClr val="1A1A2E"/>
            </a:solidFill>
            <a:prstDash val="solid"/>
          </a:ln>
          <a:effectLst>
            <a:outerShdw sx="100000" sy="100000" kx="0" ky="0" algn="bl" rotWithShape="0" blurRad="203200" dist="50800" dir="5400000">
              <a:srgbClr val="102449">
                <a:alpha val="15000"/>
              </a:srgbClr>
            </a:outerShdw>
          </a:effectLst>
        </p:spPr>
      </p:sp>
      <p:sp>
        <p:nvSpPr>
          <p:cNvPr id="10" name="Text 8"/>
          <p:cNvSpPr/>
          <p:nvPr/>
        </p:nvSpPr>
        <p:spPr>
          <a:xfrm>
            <a:off x="4800600" y="2697480"/>
            <a:ext cx="1371600" cy="914400"/>
          </a:xfrm>
          <a:prstGeom prst="rect">
            <a:avLst/>
          </a:prstGeom>
          <a:noFill/>
          <a:ln/>
        </p:spPr>
        <p:txBody>
          <a:bodyPr wrap="square" lIns="0" tIns="0" rIns="0" bIns="0" rtlCol="0" anchor="ctr"/>
          <a:lstStyle/>
          <a:p>
            <a:pPr indent="0" marL="0">
              <a:buNone/>
            </a:pPr>
            <a:r>
              <a:rPr lang="en-US" sz="4800" dirty="0">
                <a:solidFill>
                  <a:srgbClr val="000000"/>
                </a:solidFill>
                <a:latin typeface="Apple Color Emoji" pitchFamily="34" charset="0"/>
                <a:ea typeface="Apple Color Emoji" pitchFamily="34" charset="-122"/>
                <a:cs typeface="Apple Color Emoji" pitchFamily="34" charset="-120"/>
              </a:rPr>
              <a:t>⚙️</a:t>
            </a:r>
            <a:endParaRPr lang="en-US" sz="4800" dirty="0"/>
          </a:p>
        </p:txBody>
      </p:sp>
      <p:sp>
        <p:nvSpPr>
          <p:cNvPr id="11" name="Text 9"/>
          <p:cNvSpPr/>
          <p:nvPr/>
        </p:nvSpPr>
        <p:spPr>
          <a:xfrm>
            <a:off x="4800600" y="3749040"/>
            <a:ext cx="2880360" cy="50292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スマートマニュファクチャリング</a:t>
            </a:r>
            <a:endParaRPr lang="en-US" sz="2000" dirty="0"/>
          </a:p>
        </p:txBody>
      </p:sp>
      <p:sp>
        <p:nvSpPr>
          <p:cNvPr id="12" name="Text 10"/>
          <p:cNvSpPr/>
          <p:nvPr/>
        </p:nvSpPr>
        <p:spPr>
          <a:xfrm>
            <a:off x="4800600" y="4251960"/>
            <a:ext cx="2880360" cy="274320"/>
          </a:xfrm>
          <a:prstGeom prst="rect">
            <a:avLst/>
          </a:prstGeom>
          <a:noFill/>
          <a:ln/>
        </p:spPr>
        <p:txBody>
          <a:bodyPr wrap="square" lIns="0" tIns="0" rIns="0" bIns="0" rtlCol="0" anchor="ctr"/>
          <a:lstStyle/>
          <a:p>
            <a:pPr indent="0" marL="0">
              <a:buNone/>
            </a:pPr>
            <a:r>
              <a:rPr lang="en-US" sz="1000" spc="200" kern="0" dirty="0">
                <a:solidFill>
                  <a:srgbClr val="8B5CF6"/>
                </a:solidFill>
                <a:latin typeface="Yu Gothic" pitchFamily="34" charset="0"/>
                <a:ea typeface="Yu Gothic" pitchFamily="34" charset="-122"/>
                <a:cs typeface="Yu Gothic" pitchFamily="34" charset="-120"/>
              </a:rPr>
              <a:t>予知保全 · 生産追跡</a:t>
            </a:r>
            <a:endParaRPr lang="en-US" sz="1000" dirty="0"/>
          </a:p>
        </p:txBody>
      </p:sp>
      <p:sp>
        <p:nvSpPr>
          <p:cNvPr id="13" name="Text 11"/>
          <p:cNvSpPr/>
          <p:nvPr/>
        </p:nvSpPr>
        <p:spPr>
          <a:xfrm>
            <a:off x="4800600" y="4663440"/>
            <a:ext cx="2880360" cy="1280160"/>
          </a:xfrm>
          <a:prstGeom prst="rect">
            <a:avLst/>
          </a:prstGeom>
          <a:noFill/>
          <a:ln/>
        </p:spPr>
        <p:txBody>
          <a:bodyPr wrap="square" lIns="0" tIns="0" rIns="0" bIns="0" rtlCol="0" anchor="ctr"/>
          <a:lstStyle/>
          <a:p>
            <a:pPr indent="0" marL="0">
              <a:spcAft>
                <a:spcPts val="200"/>
              </a:spcAft>
              <a:buNone/>
            </a:pPr>
            <a:r>
              <a:rPr lang="en-US" sz="1200" dirty="0">
                <a:solidFill>
                  <a:srgbClr val="B8C5D6"/>
                </a:solidFill>
                <a:latin typeface="Yu Gothic" pitchFamily="34" charset="0"/>
                <a:ea typeface="Yu Gothic" pitchFamily="34" charset="-122"/>
                <a:cs typeface="Yu Gothic" pitchFamily="34" charset="-120"/>
              </a:rPr>
              <a:t>振動＋温度のエッジ監視で予知保全を実現。BLEによる生産ライン追跡でWIPをリアルタイム可視化。予知保全市場は2026年に280億ドル予測。</a:t>
            </a:r>
            <a:endParaRPr lang="en-US" sz="1200" dirty="0"/>
          </a:p>
        </p:txBody>
      </p:sp>
      <p:sp>
        <p:nvSpPr>
          <p:cNvPr id="14" name="Shape 12"/>
          <p:cNvSpPr/>
          <p:nvPr/>
        </p:nvSpPr>
        <p:spPr>
          <a:xfrm>
            <a:off x="8229600" y="2377440"/>
            <a:ext cx="3611880" cy="3657600"/>
          </a:xfrm>
          <a:prstGeom prst="rect">
            <a:avLst/>
          </a:prstGeom>
          <a:solidFill>
            <a:srgbClr val="0F3460"/>
          </a:solidFill>
          <a:ln w="12700">
            <a:solidFill>
              <a:srgbClr val="0F3460"/>
            </a:solidFill>
            <a:prstDash val="solid"/>
          </a:ln>
          <a:effectLst>
            <a:outerShdw sx="100000" sy="100000" kx="0" ky="0" algn="bl" rotWithShape="0" blurRad="203200" dist="50800" dir="5400000">
              <a:srgbClr val="102449">
                <a:alpha val="15000"/>
              </a:srgbClr>
            </a:outerShdw>
          </a:effectLst>
        </p:spPr>
      </p:sp>
      <p:sp>
        <p:nvSpPr>
          <p:cNvPr id="15" name="Text 13"/>
          <p:cNvSpPr/>
          <p:nvPr/>
        </p:nvSpPr>
        <p:spPr>
          <a:xfrm>
            <a:off x="8595360" y="2697480"/>
            <a:ext cx="1371600" cy="914400"/>
          </a:xfrm>
          <a:prstGeom prst="rect">
            <a:avLst/>
          </a:prstGeom>
          <a:noFill/>
          <a:ln/>
        </p:spPr>
        <p:txBody>
          <a:bodyPr wrap="square" lIns="0" tIns="0" rIns="0" bIns="0" rtlCol="0" anchor="ctr"/>
          <a:lstStyle/>
          <a:p>
            <a:pPr indent="0" marL="0">
              <a:buNone/>
            </a:pPr>
            <a:r>
              <a:rPr lang="en-US" sz="4800" dirty="0">
                <a:solidFill>
                  <a:srgbClr val="000000"/>
                </a:solidFill>
                <a:latin typeface="Apple Color Emoji" pitchFamily="34" charset="0"/>
                <a:ea typeface="Apple Color Emoji" pitchFamily="34" charset="-122"/>
                <a:cs typeface="Apple Color Emoji" pitchFamily="34" charset="-120"/>
              </a:rPr>
              <a:t>🏢</a:t>
            </a:r>
            <a:endParaRPr lang="en-US" sz="4800" dirty="0"/>
          </a:p>
        </p:txBody>
      </p:sp>
      <p:sp>
        <p:nvSpPr>
          <p:cNvPr id="16" name="Text 14"/>
          <p:cNvSpPr/>
          <p:nvPr/>
        </p:nvSpPr>
        <p:spPr>
          <a:xfrm>
            <a:off x="8595360" y="3749040"/>
            <a:ext cx="2880360" cy="502920"/>
          </a:xfrm>
          <a:prstGeom prst="rect">
            <a:avLst/>
          </a:prstGeom>
          <a:noFill/>
          <a:ln/>
        </p:spPr>
        <p:txBody>
          <a:bodyPr wrap="square" lIns="0" tIns="0" rIns="0" bIns="0" rtlCol="0" anchor="ctr"/>
          <a:lstStyle/>
          <a:p>
            <a:pPr indent="0" marL="0">
              <a:buNone/>
            </a:pPr>
            <a:r>
              <a:rPr lang="en-US" sz="2000" b="1" dirty="0">
                <a:solidFill>
                  <a:srgbClr val="FFFFFF"/>
                </a:solidFill>
                <a:latin typeface="Yu Gothic" pitchFamily="34" charset="0"/>
                <a:ea typeface="Yu Gothic" pitchFamily="34" charset="-122"/>
                <a:cs typeface="Yu Gothic" pitchFamily="34" charset="-120"/>
              </a:rPr>
              <a:t>スマートビル＆シティ</a:t>
            </a:r>
            <a:endParaRPr lang="en-US" sz="2000" dirty="0"/>
          </a:p>
        </p:txBody>
      </p:sp>
      <p:sp>
        <p:nvSpPr>
          <p:cNvPr id="17" name="Text 15"/>
          <p:cNvSpPr/>
          <p:nvPr/>
        </p:nvSpPr>
        <p:spPr>
          <a:xfrm>
            <a:off x="8595360" y="4251960"/>
            <a:ext cx="2880360" cy="274320"/>
          </a:xfrm>
          <a:prstGeom prst="rect">
            <a:avLst/>
          </a:prstGeom>
          <a:noFill/>
          <a:ln/>
        </p:spPr>
        <p:txBody>
          <a:bodyPr wrap="square" lIns="0" tIns="0" rIns="0" bIns="0" rtlCol="0" anchor="ctr"/>
          <a:lstStyle/>
          <a:p>
            <a:pPr indent="0" marL="0">
              <a:buNone/>
            </a:pPr>
            <a:r>
              <a:rPr lang="en-US" sz="1000" spc="200" kern="0" dirty="0">
                <a:solidFill>
                  <a:srgbClr val="10B981"/>
                </a:solidFill>
                <a:latin typeface="Yu Gothic" pitchFamily="34" charset="0"/>
                <a:ea typeface="Yu Gothic" pitchFamily="34" charset="-122"/>
                <a:cs typeface="Yu Gothic" pitchFamily="34" charset="-120"/>
              </a:rPr>
              <a:t>HVAC · 環境モニタリング</a:t>
            </a:r>
            <a:endParaRPr lang="en-US" sz="1000" dirty="0"/>
          </a:p>
        </p:txBody>
      </p:sp>
      <p:sp>
        <p:nvSpPr>
          <p:cNvPr id="18" name="Text 16"/>
          <p:cNvSpPr/>
          <p:nvPr/>
        </p:nvSpPr>
        <p:spPr>
          <a:xfrm>
            <a:off x="8595360" y="4663440"/>
            <a:ext cx="2880360" cy="1280160"/>
          </a:xfrm>
          <a:prstGeom prst="rect">
            <a:avLst/>
          </a:prstGeom>
          <a:noFill/>
          <a:ln/>
        </p:spPr>
        <p:txBody>
          <a:bodyPr wrap="square" lIns="0" tIns="0" rIns="0" bIns="0" rtlCol="0" anchor="ctr"/>
          <a:lstStyle/>
          <a:p>
            <a:pPr indent="0" marL="0">
              <a:spcAft>
                <a:spcPts val="200"/>
              </a:spcAft>
              <a:buNone/>
            </a:pPr>
            <a:r>
              <a:rPr lang="en-US" sz="1200" dirty="0">
                <a:solidFill>
                  <a:srgbClr val="B8C5D6"/>
                </a:solidFill>
                <a:latin typeface="Yu Gothic" pitchFamily="34" charset="0"/>
                <a:ea typeface="Yu Gothic" pitchFamily="34" charset="-122"/>
                <a:cs typeface="Yu Gothic" pitchFamily="34" charset="-120"/>
              </a:rPr>
              <a:t>BLE Mesh空調制御（25～35%省エネ）。高密度大気質センサーネットワークでスマートシティを支援。世界のスマートビル市場は2026年に1,500億ドル超。</a:t>
            </a:r>
            <a:endParaRPr lang="en-US" sz="1200" dirty="0"/>
          </a:p>
        </p:txBody>
      </p:sp>
      <p:sp>
        <p:nvSpPr>
          <p:cNvPr id="19" name="Text 17"/>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20" name="Text 18"/>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8229600" y="-2743200"/>
            <a:ext cx="6400800" cy="6400800"/>
          </a:xfrm>
          <a:prstGeom prst="ellipse">
            <a:avLst/>
          </a:prstGeom>
          <a:solidFill>
            <a:srgbClr val="38BDF8">
              <a:alpha val="12000"/>
            </a:srgbClr>
          </a:solidFill>
          <a:ln w="12700">
            <a:solidFill>
              <a:srgbClr val="38BDF8">
                <a:alpha val="0"/>
              </a:srgbClr>
            </a:solidFill>
            <a:prstDash val="solid"/>
          </a:ln>
        </p:spPr>
      </p:sp>
      <p:sp>
        <p:nvSpPr>
          <p:cNvPr id="3" name="Shape 1"/>
          <p:cNvSpPr/>
          <p:nvPr/>
        </p:nvSpPr>
        <p:spPr>
          <a:xfrm>
            <a:off x="-2743200" y="3657600"/>
            <a:ext cx="5486400" cy="5486400"/>
          </a:xfrm>
          <a:prstGeom prst="ellipse">
            <a:avLst/>
          </a:prstGeom>
          <a:solidFill>
            <a:srgbClr val="8B5CF6">
              <a:alpha val="10000"/>
            </a:srgbClr>
          </a:solidFill>
          <a:ln w="12700">
            <a:solidFill>
              <a:srgbClr val="8B5CF6">
                <a:alpha val="0"/>
              </a:srgbClr>
            </a:solidFill>
            <a:prstDash val="solid"/>
          </a:ln>
        </p:spPr>
      </p:sp>
      <p:sp>
        <p:nvSpPr>
          <p:cNvPr id="4" name="Shape 2"/>
          <p:cNvSpPr/>
          <p:nvPr/>
        </p:nvSpPr>
        <p:spPr>
          <a:xfrm>
            <a:off x="640080" y="640080"/>
            <a:ext cx="4114800" cy="365760"/>
          </a:xfrm>
          <a:prstGeom prst="roundRect">
            <a:avLst>
              <a:gd name="adj" fmla="val 50000"/>
            </a:avLst>
          </a:prstGeom>
          <a:solidFill>
            <a:srgbClr val="8B5CF6">
              <a:alpha val="22000"/>
            </a:srgbClr>
          </a:solidFill>
          <a:ln w="12700">
            <a:solidFill>
              <a:srgbClr val="8B5CF6">
                <a:alpha val="50000"/>
              </a:srgbClr>
            </a:solidFill>
            <a:prstDash val="solid"/>
          </a:ln>
        </p:spPr>
      </p:sp>
      <p:sp>
        <p:nvSpPr>
          <p:cNvPr id="5" name="Text 3"/>
          <p:cNvSpPr/>
          <p:nvPr/>
        </p:nvSpPr>
        <p:spPr>
          <a:xfrm>
            <a:off x="777240" y="640080"/>
            <a:ext cx="3931920" cy="365760"/>
          </a:xfrm>
          <a:prstGeom prst="rect">
            <a:avLst/>
          </a:prstGeom>
          <a:noFill/>
          <a:ln/>
        </p:spPr>
        <p:txBody>
          <a:bodyPr wrap="square" lIns="0" tIns="0" rIns="0" bIns="0" rtlCol="0" anchor="ctr"/>
          <a:lstStyle/>
          <a:p>
            <a:pPr algn="l" indent="0" marL="0">
              <a:buNone/>
            </a:pPr>
            <a:r>
              <a:rPr lang="en-US" sz="1000" b="1" spc="300" kern="0" dirty="0">
                <a:solidFill>
                  <a:srgbClr val="C4B5FD"/>
                </a:solidFill>
                <a:latin typeface="Yu Gothic" pitchFamily="34" charset="0"/>
                <a:ea typeface="Yu Gothic" pitchFamily="34" charset="-122"/>
                <a:cs typeface="Yu Gothic" pitchFamily="34" charset="-120"/>
              </a:rPr>
              <a:t>製品ポートフォリオ  ·  2026</a:t>
            </a:r>
            <a:endParaRPr lang="en-US" sz="1000" dirty="0"/>
          </a:p>
        </p:txBody>
      </p:sp>
      <p:sp>
        <p:nvSpPr>
          <p:cNvPr id="6" name="Text 4"/>
          <p:cNvSpPr/>
          <p:nvPr/>
        </p:nvSpPr>
        <p:spPr>
          <a:xfrm>
            <a:off x="640080" y="1280160"/>
            <a:ext cx="10058400" cy="822960"/>
          </a:xfrm>
          <a:prstGeom prst="rect">
            <a:avLst/>
          </a:prstGeom>
          <a:noFill/>
          <a:ln/>
        </p:spPr>
        <p:txBody>
          <a:bodyPr wrap="square" lIns="0" tIns="0" rIns="0" bIns="0" rtlCol="0" anchor="ctr"/>
          <a:lstStyle/>
          <a:p>
            <a:pPr indent="0" marL="0">
              <a:buNone/>
            </a:pPr>
            <a:r>
              <a:rPr lang="en-US" sz="3600" b="1" dirty="0">
                <a:solidFill>
                  <a:srgbClr val="FFFFFF"/>
                </a:solidFill>
                <a:latin typeface="Yu Gothic" pitchFamily="34" charset="0"/>
                <a:ea typeface="Yu Gothic" pitchFamily="34" charset="-122"/>
                <a:cs typeface="Yu Gothic" pitchFamily="34" charset="-120"/>
              </a:rPr>
              <a:t>2つの製品ファミリー、</a:t>
            </a:r>
            <a:endParaRPr lang="en-US" sz="3600" dirty="0"/>
          </a:p>
        </p:txBody>
      </p:sp>
      <p:sp>
        <p:nvSpPr>
          <p:cNvPr id="7" name="Text 5"/>
          <p:cNvSpPr/>
          <p:nvPr/>
        </p:nvSpPr>
        <p:spPr>
          <a:xfrm>
            <a:off x="640080" y="2057400"/>
            <a:ext cx="10058400" cy="1005840"/>
          </a:xfrm>
          <a:prstGeom prst="rect">
            <a:avLst/>
          </a:prstGeom>
          <a:noFill/>
          <a:ln/>
        </p:spPr>
        <p:txBody>
          <a:bodyPr wrap="square" lIns="0" tIns="0" rIns="0" bIns="0" rtlCol="0" anchor="ctr"/>
          <a:lstStyle/>
          <a:p>
            <a:pPr indent="0" marL="0">
              <a:buNone/>
            </a:pPr>
            <a:r>
              <a:rPr lang="en-US" sz="5600" b="1" dirty="0">
                <a:solidFill>
                  <a:srgbClr val="38BDF8"/>
                </a:solidFill>
                <a:latin typeface="Calibri" pitchFamily="34" charset="0"/>
                <a:ea typeface="Calibri" pitchFamily="34" charset="-122"/>
                <a:cs typeface="Calibri" pitchFamily="34" charset="-120"/>
              </a:rPr>
              <a:t>1つのプラットフォーム</a:t>
            </a:r>
            <a:endParaRPr lang="en-US" sz="5600" dirty="0"/>
          </a:p>
        </p:txBody>
      </p:sp>
      <p:sp>
        <p:nvSpPr>
          <p:cNvPr id="8" name="Text 6"/>
          <p:cNvSpPr/>
          <p:nvPr/>
        </p:nvSpPr>
        <p:spPr>
          <a:xfrm>
            <a:off x="640080" y="3246120"/>
            <a:ext cx="10058400" cy="411480"/>
          </a:xfrm>
          <a:prstGeom prst="rect">
            <a:avLst/>
          </a:prstGeom>
          <a:noFill/>
          <a:ln/>
        </p:spPr>
        <p:txBody>
          <a:bodyPr wrap="square" lIns="0" tIns="0" rIns="0" bIns="0" rtlCol="0" anchor="ctr"/>
          <a:lstStyle/>
          <a:p>
            <a:pPr indent="0" marL="0">
              <a:buNone/>
            </a:pPr>
            <a:r>
              <a:rPr lang="en-US" sz="1400" spc="200" kern="0" dirty="0">
                <a:solidFill>
                  <a:srgbClr val="06B6D4"/>
                </a:solidFill>
                <a:latin typeface="Yu Gothic" pitchFamily="34" charset="0"/>
                <a:ea typeface="Yu Gothic" pitchFamily="34" charset="-122"/>
                <a:cs typeface="Yu Gothic" pitchFamily="34" charset="-120"/>
              </a:rPr>
              <a:t>マルチチャンネルハブから使い捨てスマートラベルまで</a:t>
            </a:r>
            <a:endParaRPr lang="en-US" sz="1400" dirty="0"/>
          </a:p>
        </p:txBody>
      </p:sp>
      <p:sp>
        <p:nvSpPr>
          <p:cNvPr id="9" name="Text 7"/>
          <p:cNvSpPr/>
          <p:nvPr/>
        </p:nvSpPr>
        <p:spPr>
          <a:xfrm>
            <a:off x="640080" y="3794760"/>
            <a:ext cx="7680960" cy="1828800"/>
          </a:xfrm>
          <a:prstGeom prst="rect">
            <a:avLst/>
          </a:prstGeom>
          <a:noFill/>
          <a:ln/>
        </p:spPr>
        <p:txBody>
          <a:bodyPr wrap="square" lIns="0" tIns="0" rIns="0" bIns="0" rtlCol="0" anchor="ctr"/>
          <a:lstStyle/>
          <a:p>
            <a:pPr indent="0" marL="0">
              <a:spcAft>
                <a:spcPts val="400"/>
              </a:spcAft>
              <a:buNone/>
            </a:pPr>
            <a:r>
              <a:rPr lang="en-US" sz="1300" dirty="0">
                <a:solidFill>
                  <a:srgbClr val="B8C5D6"/>
                </a:solidFill>
                <a:latin typeface="Yu Gothic" pitchFamily="34" charset="0"/>
                <a:ea typeface="Yu Gothic" pitchFamily="34" charset="-122"/>
                <a:cs typeface="Yu Gothic" pitchFamily="34" charset="-120"/>
              </a:rPr>
              <a:t>SHシリーズ BLE Sensor Hubは2～8chのフレキシブルセンサーとEdge AIを提供し、産業・商業IoTに最適。HBシリーズ SmartBeaconは超低コストのBLE広告タグを実現、ファームウェア開発不要。</a:t>
            </a:r>
            <a:endParaRPr lang="en-US" sz="1300" dirty="0"/>
          </a:p>
        </p:txBody>
      </p:sp>
      <p:sp>
        <p:nvSpPr>
          <p:cNvPr id="10" name="Shape 8"/>
          <p:cNvSpPr/>
          <p:nvPr/>
        </p:nvSpPr>
        <p:spPr>
          <a:xfrm>
            <a:off x="640080" y="5760720"/>
            <a:ext cx="2560320" cy="457200"/>
          </a:xfrm>
          <a:prstGeom prst="roundRect">
            <a:avLst>
              <a:gd name="adj" fmla="val 20000"/>
            </a:avLst>
          </a:prstGeom>
          <a:solidFill>
            <a:srgbClr val="38BDF8">
              <a:alpha val="15000"/>
            </a:srgbClr>
          </a:solidFill>
          <a:ln w="12700">
            <a:solidFill>
              <a:srgbClr val="38BDF8">
                <a:alpha val="40000"/>
              </a:srgbClr>
            </a:solidFill>
            <a:prstDash val="solid"/>
          </a:ln>
        </p:spPr>
      </p:sp>
      <p:sp>
        <p:nvSpPr>
          <p:cNvPr id="11" name="Text 9"/>
          <p:cNvSpPr/>
          <p:nvPr/>
        </p:nvSpPr>
        <p:spPr>
          <a:xfrm>
            <a:off x="777240" y="5760720"/>
            <a:ext cx="2377440" cy="45720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  SH-100 / SH-200 Sensor Hub</a:t>
            </a:r>
            <a:endParaRPr lang="en-US" sz="1100" dirty="0"/>
          </a:p>
        </p:txBody>
      </p:sp>
      <p:sp>
        <p:nvSpPr>
          <p:cNvPr id="12" name="Shape 10"/>
          <p:cNvSpPr/>
          <p:nvPr/>
        </p:nvSpPr>
        <p:spPr>
          <a:xfrm>
            <a:off x="3337560" y="5760720"/>
            <a:ext cx="2560320" cy="457200"/>
          </a:xfrm>
          <a:prstGeom prst="roundRect">
            <a:avLst>
              <a:gd name="adj" fmla="val 20000"/>
            </a:avLst>
          </a:prstGeom>
          <a:solidFill>
            <a:srgbClr val="38BDF8">
              <a:alpha val="15000"/>
            </a:srgbClr>
          </a:solidFill>
          <a:ln w="12700">
            <a:solidFill>
              <a:srgbClr val="38BDF8">
                <a:alpha val="40000"/>
              </a:srgbClr>
            </a:solidFill>
            <a:prstDash val="solid"/>
          </a:ln>
        </p:spPr>
      </p:sp>
      <p:sp>
        <p:nvSpPr>
          <p:cNvPr id="13" name="Text 11"/>
          <p:cNvSpPr/>
          <p:nvPr/>
        </p:nvSpPr>
        <p:spPr>
          <a:xfrm>
            <a:off x="3474720" y="5760720"/>
            <a:ext cx="2377440" cy="45720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  HB100 / HB120 SmartBeacon</a:t>
            </a:r>
            <a:endParaRPr lang="en-US" sz="1100" dirty="0"/>
          </a:p>
        </p:txBody>
      </p:sp>
      <p:sp>
        <p:nvSpPr>
          <p:cNvPr id="14" name="Shape 12"/>
          <p:cNvSpPr/>
          <p:nvPr/>
        </p:nvSpPr>
        <p:spPr>
          <a:xfrm>
            <a:off x="6035040" y="5760720"/>
            <a:ext cx="2560320" cy="457200"/>
          </a:xfrm>
          <a:prstGeom prst="roundRect">
            <a:avLst>
              <a:gd name="adj" fmla="val 20000"/>
            </a:avLst>
          </a:prstGeom>
          <a:solidFill>
            <a:srgbClr val="38BDF8">
              <a:alpha val="15000"/>
            </a:srgbClr>
          </a:solidFill>
          <a:ln w="12700">
            <a:solidFill>
              <a:srgbClr val="38BDF8">
                <a:alpha val="40000"/>
              </a:srgbClr>
            </a:solidFill>
            <a:prstDash val="solid"/>
          </a:ln>
        </p:spPr>
      </p:sp>
      <p:sp>
        <p:nvSpPr>
          <p:cNvPr id="15" name="Text 13"/>
          <p:cNvSpPr/>
          <p:nvPr/>
        </p:nvSpPr>
        <p:spPr>
          <a:xfrm>
            <a:off x="6172200" y="5760720"/>
            <a:ext cx="2377440" cy="45720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  モバイルアプリ付属</a:t>
            </a:r>
            <a:endParaRPr lang="en-US" sz="1100" dirty="0"/>
          </a:p>
        </p:txBody>
      </p:sp>
      <p:sp>
        <p:nvSpPr>
          <p:cNvPr id="16" name="Shape 14"/>
          <p:cNvSpPr/>
          <p:nvPr/>
        </p:nvSpPr>
        <p:spPr>
          <a:xfrm>
            <a:off x="8732520" y="5760720"/>
            <a:ext cx="2560320" cy="457200"/>
          </a:xfrm>
          <a:prstGeom prst="roundRect">
            <a:avLst>
              <a:gd name="adj" fmla="val 20000"/>
            </a:avLst>
          </a:prstGeom>
          <a:solidFill>
            <a:srgbClr val="38BDF8">
              <a:alpha val="15000"/>
            </a:srgbClr>
          </a:solidFill>
          <a:ln w="12700">
            <a:solidFill>
              <a:srgbClr val="38BDF8">
                <a:alpha val="40000"/>
              </a:srgbClr>
            </a:solidFill>
            <a:prstDash val="solid"/>
          </a:ln>
        </p:spPr>
      </p:sp>
      <p:sp>
        <p:nvSpPr>
          <p:cNvPr id="17" name="Text 15"/>
          <p:cNvSpPr/>
          <p:nvPr/>
        </p:nvSpPr>
        <p:spPr>
          <a:xfrm>
            <a:off x="8869680" y="5760720"/>
            <a:ext cx="2377440" cy="457200"/>
          </a:xfrm>
          <a:prstGeom prst="rect">
            <a:avLst/>
          </a:prstGeom>
          <a:noFill/>
          <a:ln/>
        </p:spPr>
        <p:txBody>
          <a:bodyPr wrap="square" lIns="0" tIns="0" rIns="0" bIns="0" rtlCol="0" anchor="ctr"/>
          <a:lstStyle/>
          <a:p>
            <a:pPr indent="0" marL="0">
              <a:buNone/>
            </a:pPr>
            <a:r>
              <a:rPr lang="en-US" sz="1100" b="1" dirty="0">
                <a:solidFill>
                  <a:srgbClr val="FFFFFF"/>
                </a:solidFill>
                <a:latin typeface="Yu Gothic" pitchFamily="34" charset="0"/>
                <a:ea typeface="Yu Gothic" pitchFamily="34" charset="-122"/>
                <a:cs typeface="Yu Gothic" pitchFamily="34" charset="-120"/>
              </a:rPr>
              <a:t>▸  ノーコード / プリプログラム</a:t>
            </a:r>
            <a:endParaRPr lang="en-US" sz="1100" dirty="0"/>
          </a:p>
        </p:txBody>
      </p:sp>
      <p:pic>
        <p:nvPicPr>
          <p:cNvPr id="18" name="Image 0" descr="/home/claude/ppt/logo_icon.png">    </p:cNvPr>
          <p:cNvPicPr>
            <a:picLocks noChangeAspect="1"/>
          </p:cNvPicPr>
          <p:nvPr/>
        </p:nvPicPr>
        <p:blipFill>
          <a:blip r:embed="rId1"/>
          <a:stretch>
            <a:fillRect/>
          </a:stretch>
        </p:blipFill>
        <p:spPr>
          <a:xfrm>
            <a:off x="9784080" y="3840480"/>
            <a:ext cx="1828800" cy="1463040"/>
          </a:xfrm>
          <a:prstGeom prst="rect">
            <a:avLst/>
          </a:prstGeom>
        </p:spPr>
      </p:pic>
      <p:sp>
        <p:nvSpPr>
          <p:cNvPr id="19" name="Text 16"/>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20" name="Text 17"/>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製品 アーキテクチャ</a:t>
            </a:r>
            <a:endParaRPr lang="en-US" sz="1000" dirty="0"/>
          </a:p>
        </p:txBody>
      </p:sp>
      <p:sp>
        <p:nvSpPr>
          <p:cNvPr id="3" name="Text 1"/>
          <p:cNvSpPr/>
          <p:nvPr/>
        </p:nvSpPr>
        <p:spPr>
          <a:xfrm>
            <a:off x="640080" y="960120"/>
            <a:ext cx="10972800" cy="914400"/>
          </a:xfrm>
          <a:prstGeom prst="rect">
            <a:avLst/>
          </a:prstGeom>
          <a:noFill/>
          <a:ln/>
        </p:spPr>
        <p:txBody>
          <a:bodyPr wrap="square" lIns="0" tIns="0" rIns="0" bIns="0" rtlCol="0" anchor="ctr"/>
          <a:lstStyle/>
          <a:p>
            <a:pPr indent="0" marL="0">
              <a:buNone/>
            </a:pPr>
            <a:r>
              <a:rPr lang="en-US" sz="3600" b="1" dirty="0">
                <a:solidFill>
                  <a:srgbClr val="0A1628"/>
                </a:solidFill>
                <a:latin typeface="Yu Gothic" pitchFamily="34" charset="0"/>
                <a:ea typeface="Yu Gothic" pitchFamily="34" charset="-122"/>
                <a:cs typeface="Yu Gothic" pitchFamily="34" charset="-120"/>
              </a:rPr>
              <a:t>製品アーキテクチャ概要</a:t>
            </a:r>
            <a:endParaRPr lang="en-US" sz="3600" dirty="0"/>
          </a:p>
        </p:txBody>
      </p:sp>
      <p:sp>
        <p:nvSpPr>
          <p:cNvPr id="4" name="Shape 2"/>
          <p:cNvSpPr/>
          <p:nvPr/>
        </p:nvSpPr>
        <p:spPr>
          <a:xfrm>
            <a:off x="640080" y="2377440"/>
            <a:ext cx="5440680" cy="2926080"/>
          </a:xfrm>
          <a:prstGeom prst="rect">
            <a:avLst/>
          </a:prstGeom>
          <a:solidFill>
            <a:srgbClr val="0A1628"/>
          </a:solidFill>
          <a:ln w="12700">
            <a:solidFill>
              <a:srgbClr val="0A1628"/>
            </a:solidFill>
            <a:prstDash val="solid"/>
          </a:ln>
          <a:effectLst>
            <a:outerShdw sx="100000" sy="100000" kx="0" ky="0" algn="bl" rotWithShape="0" blurRad="203200" dist="50800" dir="5400000">
              <a:srgbClr val="102449">
                <a:alpha val="15000"/>
              </a:srgbClr>
            </a:outerShdw>
          </a:effectLst>
        </p:spPr>
      </p:sp>
      <p:sp>
        <p:nvSpPr>
          <p:cNvPr id="5" name="Shape 3"/>
          <p:cNvSpPr/>
          <p:nvPr/>
        </p:nvSpPr>
        <p:spPr>
          <a:xfrm>
            <a:off x="640080" y="2377440"/>
            <a:ext cx="5440680" cy="73152"/>
          </a:xfrm>
          <a:prstGeom prst="rect">
            <a:avLst/>
          </a:prstGeom>
          <a:solidFill>
            <a:srgbClr val="38BDF8"/>
          </a:solidFill>
          <a:ln w="12700">
            <a:solidFill>
              <a:srgbClr val="38BDF8"/>
            </a:solidFill>
            <a:prstDash val="solid"/>
          </a:ln>
        </p:spPr>
      </p:sp>
      <p:sp>
        <p:nvSpPr>
          <p:cNvPr id="6" name="Text 4"/>
          <p:cNvSpPr/>
          <p:nvPr/>
        </p:nvSpPr>
        <p:spPr>
          <a:xfrm>
            <a:off x="914400" y="265176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BLE センサーハブ</a:t>
            </a:r>
            <a:endParaRPr lang="en-US" sz="1500" dirty="0"/>
          </a:p>
        </p:txBody>
      </p:sp>
      <p:sp>
        <p:nvSpPr>
          <p:cNvPr id="7" name="Text 5"/>
          <p:cNvSpPr/>
          <p:nvPr/>
        </p:nvSpPr>
        <p:spPr>
          <a:xfrm>
            <a:off x="914400" y="3017520"/>
            <a:ext cx="4892040" cy="274320"/>
          </a:xfrm>
          <a:prstGeom prst="rect">
            <a:avLst/>
          </a:prstGeom>
          <a:noFill/>
          <a:ln/>
        </p:spPr>
        <p:txBody>
          <a:bodyPr wrap="square" lIns="0" tIns="0" rIns="0" bIns="0" rtlCol="0" anchor="ctr"/>
          <a:lstStyle/>
          <a:p>
            <a:pPr indent="0" marL="0">
              <a:buNone/>
            </a:pPr>
            <a:r>
              <a:rPr lang="en-US" sz="900" spc="300" kern="0" dirty="0">
                <a:solidFill>
                  <a:srgbClr val="38BDF8"/>
                </a:solidFill>
                <a:latin typeface="Yu Gothic" pitchFamily="34" charset="0"/>
                <a:ea typeface="Yu Gothic" pitchFamily="34" charset="-122"/>
                <a:cs typeface="Yu Gothic" pitchFamily="34" charset="-120"/>
              </a:rPr>
              <a:t>SH-100 / SH-200</a:t>
            </a:r>
            <a:endParaRPr lang="en-US" sz="900" dirty="0"/>
          </a:p>
        </p:txBody>
      </p:sp>
      <p:sp>
        <p:nvSpPr>
          <p:cNvPr id="8" name="Shape 6"/>
          <p:cNvSpPr/>
          <p:nvPr/>
        </p:nvSpPr>
        <p:spPr>
          <a:xfrm>
            <a:off x="914400" y="3520440"/>
            <a:ext cx="2423160" cy="548640"/>
          </a:xfrm>
          <a:prstGeom prst="roundRect">
            <a:avLst>
              <a:gd name="adj" fmla="val 16667"/>
            </a:avLst>
          </a:prstGeom>
          <a:solidFill>
            <a:srgbClr val="38BDF8">
              <a:alpha val="18000"/>
            </a:srgbClr>
          </a:solidFill>
          <a:ln w="12700">
            <a:solidFill>
              <a:srgbClr val="38BDF8">
                <a:alpha val="50000"/>
              </a:srgbClr>
            </a:solidFill>
            <a:prstDash val="solid"/>
          </a:ln>
        </p:spPr>
      </p:sp>
      <p:sp>
        <p:nvSpPr>
          <p:cNvPr id="9" name="Shape 7"/>
          <p:cNvSpPr/>
          <p:nvPr/>
        </p:nvSpPr>
        <p:spPr>
          <a:xfrm>
            <a:off x="1078992" y="3703320"/>
            <a:ext cx="164592" cy="164592"/>
          </a:xfrm>
          <a:prstGeom prst="ellipse">
            <a:avLst/>
          </a:prstGeom>
          <a:solidFill>
            <a:srgbClr val="38BDF8"/>
          </a:solidFill>
          <a:ln w="12700">
            <a:solidFill>
              <a:srgbClr val="38BDF8"/>
            </a:solidFill>
            <a:prstDash val="solid"/>
          </a:ln>
        </p:spPr>
      </p:sp>
      <p:sp>
        <p:nvSpPr>
          <p:cNvPr id="10" name="Text 8"/>
          <p:cNvSpPr/>
          <p:nvPr/>
        </p:nvSpPr>
        <p:spPr>
          <a:xfrm>
            <a:off x="1325880" y="3520440"/>
            <a:ext cx="1965960" cy="5486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マルチチャンネル I²C</a:t>
            </a:r>
            <a:endParaRPr lang="en-US" sz="1300" dirty="0"/>
          </a:p>
        </p:txBody>
      </p:sp>
      <p:sp>
        <p:nvSpPr>
          <p:cNvPr id="11" name="Shape 9"/>
          <p:cNvSpPr/>
          <p:nvPr/>
        </p:nvSpPr>
        <p:spPr>
          <a:xfrm>
            <a:off x="3474720" y="3520440"/>
            <a:ext cx="2423160" cy="548640"/>
          </a:xfrm>
          <a:prstGeom prst="roundRect">
            <a:avLst>
              <a:gd name="adj" fmla="val 16667"/>
            </a:avLst>
          </a:prstGeom>
          <a:solidFill>
            <a:srgbClr val="38BDF8">
              <a:alpha val="18000"/>
            </a:srgbClr>
          </a:solidFill>
          <a:ln w="12700">
            <a:solidFill>
              <a:srgbClr val="38BDF8">
                <a:alpha val="50000"/>
              </a:srgbClr>
            </a:solidFill>
            <a:prstDash val="solid"/>
          </a:ln>
        </p:spPr>
      </p:sp>
      <p:sp>
        <p:nvSpPr>
          <p:cNvPr id="12" name="Shape 10"/>
          <p:cNvSpPr/>
          <p:nvPr/>
        </p:nvSpPr>
        <p:spPr>
          <a:xfrm>
            <a:off x="3639312" y="3703320"/>
            <a:ext cx="164592" cy="164592"/>
          </a:xfrm>
          <a:prstGeom prst="ellipse">
            <a:avLst/>
          </a:prstGeom>
          <a:solidFill>
            <a:srgbClr val="38BDF8"/>
          </a:solidFill>
          <a:ln w="12700">
            <a:solidFill>
              <a:srgbClr val="38BDF8"/>
            </a:solidFill>
            <a:prstDash val="solid"/>
          </a:ln>
        </p:spPr>
      </p:sp>
      <p:sp>
        <p:nvSpPr>
          <p:cNvPr id="13" name="Text 11"/>
          <p:cNvSpPr/>
          <p:nvPr/>
        </p:nvSpPr>
        <p:spPr>
          <a:xfrm>
            <a:off x="3886200" y="3520440"/>
            <a:ext cx="1965960" cy="5486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エッジ AI 分類</a:t>
            </a:r>
            <a:endParaRPr lang="en-US" sz="1300" dirty="0"/>
          </a:p>
        </p:txBody>
      </p:sp>
      <p:sp>
        <p:nvSpPr>
          <p:cNvPr id="14" name="Shape 12"/>
          <p:cNvSpPr/>
          <p:nvPr/>
        </p:nvSpPr>
        <p:spPr>
          <a:xfrm>
            <a:off x="914400" y="4206240"/>
            <a:ext cx="2423160" cy="548640"/>
          </a:xfrm>
          <a:prstGeom prst="roundRect">
            <a:avLst>
              <a:gd name="adj" fmla="val 16667"/>
            </a:avLst>
          </a:prstGeom>
          <a:solidFill>
            <a:srgbClr val="38BDF8">
              <a:alpha val="18000"/>
            </a:srgbClr>
          </a:solidFill>
          <a:ln w="12700">
            <a:solidFill>
              <a:srgbClr val="38BDF8">
                <a:alpha val="50000"/>
              </a:srgbClr>
            </a:solidFill>
            <a:prstDash val="solid"/>
          </a:ln>
        </p:spPr>
      </p:sp>
      <p:sp>
        <p:nvSpPr>
          <p:cNvPr id="15" name="Shape 13"/>
          <p:cNvSpPr/>
          <p:nvPr/>
        </p:nvSpPr>
        <p:spPr>
          <a:xfrm>
            <a:off x="1078992" y="4389120"/>
            <a:ext cx="164592" cy="164592"/>
          </a:xfrm>
          <a:prstGeom prst="ellipse">
            <a:avLst/>
          </a:prstGeom>
          <a:solidFill>
            <a:srgbClr val="38BDF8"/>
          </a:solidFill>
          <a:ln w="12700">
            <a:solidFill>
              <a:srgbClr val="38BDF8"/>
            </a:solidFill>
            <a:prstDash val="solid"/>
          </a:ln>
        </p:spPr>
      </p:sp>
      <p:sp>
        <p:nvSpPr>
          <p:cNvPr id="16" name="Text 14"/>
          <p:cNvSpPr/>
          <p:nvPr/>
        </p:nvSpPr>
        <p:spPr>
          <a:xfrm>
            <a:off x="1325880" y="4206240"/>
            <a:ext cx="1965960" cy="5486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データロギング（&gt;30日）</a:t>
            </a:r>
            <a:endParaRPr lang="en-US" sz="1300" dirty="0"/>
          </a:p>
        </p:txBody>
      </p:sp>
      <p:sp>
        <p:nvSpPr>
          <p:cNvPr id="17" name="Shape 15"/>
          <p:cNvSpPr/>
          <p:nvPr/>
        </p:nvSpPr>
        <p:spPr>
          <a:xfrm>
            <a:off x="3474720" y="4206240"/>
            <a:ext cx="2423160" cy="548640"/>
          </a:xfrm>
          <a:prstGeom prst="roundRect">
            <a:avLst>
              <a:gd name="adj" fmla="val 16667"/>
            </a:avLst>
          </a:prstGeom>
          <a:solidFill>
            <a:srgbClr val="38BDF8">
              <a:alpha val="18000"/>
            </a:srgbClr>
          </a:solidFill>
          <a:ln w="12700">
            <a:solidFill>
              <a:srgbClr val="38BDF8">
                <a:alpha val="50000"/>
              </a:srgbClr>
            </a:solidFill>
            <a:prstDash val="solid"/>
          </a:ln>
        </p:spPr>
      </p:sp>
      <p:sp>
        <p:nvSpPr>
          <p:cNvPr id="18" name="Shape 16"/>
          <p:cNvSpPr/>
          <p:nvPr/>
        </p:nvSpPr>
        <p:spPr>
          <a:xfrm>
            <a:off x="3639312" y="4389120"/>
            <a:ext cx="164592" cy="164592"/>
          </a:xfrm>
          <a:prstGeom prst="ellipse">
            <a:avLst/>
          </a:prstGeom>
          <a:solidFill>
            <a:srgbClr val="38BDF8"/>
          </a:solidFill>
          <a:ln w="12700">
            <a:solidFill>
              <a:srgbClr val="38BDF8"/>
            </a:solidFill>
            <a:prstDash val="solid"/>
          </a:ln>
        </p:spPr>
      </p:sp>
      <p:sp>
        <p:nvSpPr>
          <p:cNvPr id="19" name="Text 17"/>
          <p:cNvSpPr/>
          <p:nvPr/>
        </p:nvSpPr>
        <p:spPr>
          <a:xfrm>
            <a:off x="3886200" y="4206240"/>
            <a:ext cx="1965960" cy="548640"/>
          </a:xfrm>
          <a:prstGeom prst="rect">
            <a:avLst/>
          </a:prstGeom>
          <a:noFill/>
          <a:ln/>
        </p:spPr>
        <p:txBody>
          <a:bodyPr wrap="square" lIns="0" tIns="0" rIns="0" bIns="0" rtlCol="0" anchor="ctr"/>
          <a:lstStyle/>
          <a:p>
            <a:pPr indent="0" marL="0">
              <a:buNone/>
            </a:pPr>
            <a:r>
              <a:rPr lang="en-US" sz="1300" b="1" dirty="0">
                <a:solidFill>
                  <a:srgbClr val="FFFFFF"/>
                </a:solidFill>
                <a:latin typeface="Yu Gothic" pitchFamily="34" charset="0"/>
                <a:ea typeface="Yu Gothic" pitchFamily="34" charset="-122"/>
                <a:cs typeface="Yu Gothic" pitchFamily="34" charset="-120"/>
              </a:rPr>
              <a:t>BLE Long Range / Mesh</a:t>
            </a:r>
            <a:endParaRPr lang="en-US" sz="1300" dirty="0"/>
          </a:p>
        </p:txBody>
      </p:sp>
      <p:sp>
        <p:nvSpPr>
          <p:cNvPr id="20" name="Shape 18"/>
          <p:cNvSpPr/>
          <p:nvPr/>
        </p:nvSpPr>
        <p:spPr>
          <a:xfrm>
            <a:off x="6263640" y="2377440"/>
            <a:ext cx="5440680" cy="2926080"/>
          </a:xfrm>
          <a:prstGeom prst="rect">
            <a:avLst/>
          </a:prstGeom>
          <a:solidFill>
            <a:srgbClr val="0A1628"/>
          </a:solidFill>
          <a:ln w="12700">
            <a:solidFill>
              <a:srgbClr val="0A1628"/>
            </a:solidFill>
            <a:prstDash val="solid"/>
          </a:ln>
          <a:effectLst>
            <a:outerShdw sx="100000" sy="100000" kx="0" ky="0" algn="bl" rotWithShape="0" blurRad="203200" dist="50800" dir="5400000">
              <a:srgbClr val="102449">
                <a:alpha val="15000"/>
              </a:srgbClr>
            </a:outerShdw>
          </a:effectLst>
        </p:spPr>
      </p:sp>
      <p:sp>
        <p:nvSpPr>
          <p:cNvPr id="21" name="Shape 19"/>
          <p:cNvSpPr/>
          <p:nvPr/>
        </p:nvSpPr>
        <p:spPr>
          <a:xfrm>
            <a:off x="6263640" y="2377440"/>
            <a:ext cx="5440680" cy="73152"/>
          </a:xfrm>
          <a:prstGeom prst="rect">
            <a:avLst/>
          </a:prstGeom>
          <a:solidFill>
            <a:srgbClr val="8B5CF6"/>
          </a:solidFill>
          <a:ln w="12700">
            <a:solidFill>
              <a:srgbClr val="8B5CF6"/>
            </a:solidFill>
            <a:prstDash val="solid"/>
          </a:ln>
        </p:spPr>
      </p:sp>
      <p:sp>
        <p:nvSpPr>
          <p:cNvPr id="22" name="Text 20"/>
          <p:cNvSpPr/>
          <p:nvPr/>
        </p:nvSpPr>
        <p:spPr>
          <a:xfrm>
            <a:off x="6537960" y="2651760"/>
            <a:ext cx="4892040" cy="365760"/>
          </a:xfrm>
          <a:prstGeom prst="rect">
            <a:avLst/>
          </a:prstGeom>
          <a:noFill/>
          <a:ln/>
        </p:spPr>
        <p:txBody>
          <a:bodyPr wrap="square" lIns="0" tIns="0" rIns="0" bIns="0" rtlCol="0" anchor="ctr"/>
          <a:lstStyle/>
          <a:p>
            <a:pPr indent="0" marL="0">
              <a:buNone/>
            </a:pPr>
            <a:r>
              <a:rPr lang="en-US" sz="1500" b="1" dirty="0">
                <a:solidFill>
                  <a:srgbClr val="FFFFFF"/>
                </a:solidFill>
                <a:latin typeface="Yu Gothic" pitchFamily="34" charset="0"/>
                <a:ea typeface="Yu Gothic" pitchFamily="34" charset="-122"/>
                <a:cs typeface="Yu Gothic" pitchFamily="34" charset="-120"/>
              </a:rPr>
              <a:t>スマートビーコン</a:t>
            </a:r>
            <a:endParaRPr lang="en-US" sz="1500" dirty="0"/>
          </a:p>
        </p:txBody>
      </p:sp>
      <p:sp>
        <p:nvSpPr>
          <p:cNvPr id="23" name="Text 21"/>
          <p:cNvSpPr/>
          <p:nvPr/>
        </p:nvSpPr>
        <p:spPr>
          <a:xfrm>
            <a:off x="6537960" y="3017520"/>
            <a:ext cx="4892040" cy="274320"/>
          </a:xfrm>
          <a:prstGeom prst="rect">
            <a:avLst/>
          </a:prstGeom>
          <a:noFill/>
          <a:ln/>
        </p:spPr>
        <p:txBody>
          <a:bodyPr wrap="square" lIns="0" tIns="0" rIns="0" bIns="0" rtlCol="0" anchor="ctr"/>
          <a:lstStyle/>
          <a:p>
            <a:pPr indent="0" marL="0">
              <a:buNone/>
            </a:pPr>
            <a:r>
              <a:rPr lang="en-US" sz="900" spc="300" kern="0" dirty="0">
                <a:solidFill>
                  <a:srgbClr val="C4B5FD"/>
                </a:solidFill>
                <a:latin typeface="Yu Gothic" pitchFamily="34" charset="0"/>
                <a:ea typeface="Yu Gothic" pitchFamily="34" charset="-122"/>
                <a:cs typeface="Yu Gothic" pitchFamily="34" charset="-120"/>
              </a:rPr>
              <a:t>HB100 / HB120</a:t>
            </a:r>
            <a:endParaRPr lang="en-US" sz="900" dirty="0"/>
          </a:p>
        </p:txBody>
      </p:sp>
      <p:sp>
        <p:nvSpPr>
          <p:cNvPr id="24" name="Shape 22"/>
          <p:cNvSpPr/>
          <p:nvPr/>
        </p:nvSpPr>
        <p:spPr>
          <a:xfrm>
            <a:off x="6537960" y="3520440"/>
            <a:ext cx="2423160" cy="548640"/>
          </a:xfrm>
          <a:prstGeom prst="roundRect">
            <a:avLst>
              <a:gd name="adj" fmla="val 16667"/>
            </a:avLst>
          </a:prstGeom>
          <a:solidFill>
            <a:srgbClr val="FFFFFF">
              <a:alpha val="8000"/>
            </a:srgbClr>
          </a:solidFill>
          <a:ln w="12700">
            <a:solidFill>
              <a:srgbClr val="FFFFFF">
                <a:alpha val="30000"/>
              </a:srgbClr>
            </a:solidFill>
            <a:prstDash val="dash"/>
          </a:ln>
        </p:spPr>
      </p:sp>
      <p:sp>
        <p:nvSpPr>
          <p:cNvPr id="25" name="Text 23"/>
          <p:cNvSpPr/>
          <p:nvPr/>
        </p:nvSpPr>
        <p:spPr>
          <a:xfrm>
            <a:off x="6675120" y="3520440"/>
            <a:ext cx="274320" cy="548640"/>
          </a:xfrm>
          <a:prstGeom prst="rect">
            <a:avLst/>
          </a:prstGeom>
          <a:noFill/>
          <a:ln/>
        </p:spPr>
        <p:txBody>
          <a:bodyPr wrap="square" lIns="0" tIns="0" rIns="0" bIns="0" rtlCol="0" anchor="ctr"/>
          <a:lstStyle/>
          <a:p>
            <a:pPr indent="0" marL="0">
              <a:buNone/>
            </a:pPr>
            <a:r>
              <a:rPr lang="en-US" sz="1600" b="1" dirty="0">
                <a:solidFill>
                  <a:srgbClr val="C4B5FD"/>
                </a:solidFill>
                <a:latin typeface="Yu Gothic" pitchFamily="34" charset="0"/>
                <a:ea typeface="Yu Gothic" pitchFamily="34" charset="-122"/>
                <a:cs typeface="Yu Gothic" pitchFamily="34" charset="-120"/>
              </a:rPr>
              <a:t>+</a:t>
            </a:r>
            <a:endParaRPr lang="en-US" sz="1600" dirty="0"/>
          </a:p>
        </p:txBody>
      </p:sp>
      <p:sp>
        <p:nvSpPr>
          <p:cNvPr id="26" name="Text 24"/>
          <p:cNvSpPr/>
          <p:nvPr/>
        </p:nvSpPr>
        <p:spPr>
          <a:xfrm>
            <a:off x="6949440" y="3520440"/>
            <a:ext cx="1965960" cy="548640"/>
          </a:xfrm>
          <a:prstGeom prst="rect">
            <a:avLst/>
          </a:prstGeom>
          <a:noFill/>
          <a:ln/>
        </p:spPr>
        <p:txBody>
          <a:bodyPr wrap="square" lIns="0" tIns="0" rIns="0" bIns="0" rtlCol="0" anchor="ctr"/>
          <a:lstStyle/>
          <a:p>
            <a:pPr indent="0" marL="0">
              <a:buNone/>
            </a:pPr>
            <a:r>
              <a:rPr lang="en-US" sz="1300" dirty="0">
                <a:solidFill>
                  <a:srgbClr val="D6DEE8"/>
                </a:solidFill>
                <a:latin typeface="Yu Gothic" pitchFamily="34" charset="0"/>
                <a:ea typeface="Yu Gothic" pitchFamily="34" charset="-122"/>
                <a:cs typeface="Yu Gothic" pitchFamily="34" charset="-120"/>
              </a:rPr>
              <a:t>BLE 広告タグ</a:t>
            </a:r>
            <a:endParaRPr lang="en-US" sz="1300" dirty="0"/>
          </a:p>
        </p:txBody>
      </p:sp>
      <p:sp>
        <p:nvSpPr>
          <p:cNvPr id="27" name="Shape 25"/>
          <p:cNvSpPr/>
          <p:nvPr/>
        </p:nvSpPr>
        <p:spPr>
          <a:xfrm>
            <a:off x="9098280" y="3520440"/>
            <a:ext cx="2423160" cy="548640"/>
          </a:xfrm>
          <a:prstGeom prst="roundRect">
            <a:avLst>
              <a:gd name="adj" fmla="val 16667"/>
            </a:avLst>
          </a:prstGeom>
          <a:solidFill>
            <a:srgbClr val="FFFFFF">
              <a:alpha val="8000"/>
            </a:srgbClr>
          </a:solidFill>
          <a:ln w="12700">
            <a:solidFill>
              <a:srgbClr val="FFFFFF">
                <a:alpha val="30000"/>
              </a:srgbClr>
            </a:solidFill>
            <a:prstDash val="dash"/>
          </a:ln>
        </p:spPr>
      </p:sp>
      <p:sp>
        <p:nvSpPr>
          <p:cNvPr id="28" name="Text 26"/>
          <p:cNvSpPr/>
          <p:nvPr/>
        </p:nvSpPr>
        <p:spPr>
          <a:xfrm>
            <a:off x="9235440" y="3520440"/>
            <a:ext cx="274320" cy="548640"/>
          </a:xfrm>
          <a:prstGeom prst="rect">
            <a:avLst/>
          </a:prstGeom>
          <a:noFill/>
          <a:ln/>
        </p:spPr>
        <p:txBody>
          <a:bodyPr wrap="square" lIns="0" tIns="0" rIns="0" bIns="0" rtlCol="0" anchor="ctr"/>
          <a:lstStyle/>
          <a:p>
            <a:pPr indent="0" marL="0">
              <a:buNone/>
            </a:pPr>
            <a:r>
              <a:rPr lang="en-US" sz="1600" b="1" dirty="0">
                <a:solidFill>
                  <a:srgbClr val="C4B5FD"/>
                </a:solidFill>
                <a:latin typeface="Yu Gothic" pitchFamily="34" charset="0"/>
                <a:ea typeface="Yu Gothic" pitchFamily="34" charset="-122"/>
                <a:cs typeface="Yu Gothic" pitchFamily="34" charset="-120"/>
              </a:rPr>
              <a:t>+</a:t>
            </a:r>
            <a:endParaRPr lang="en-US" sz="1600" dirty="0"/>
          </a:p>
        </p:txBody>
      </p:sp>
      <p:sp>
        <p:nvSpPr>
          <p:cNvPr id="29" name="Text 27"/>
          <p:cNvSpPr/>
          <p:nvPr/>
        </p:nvSpPr>
        <p:spPr>
          <a:xfrm>
            <a:off x="9509760" y="3520440"/>
            <a:ext cx="1965960" cy="548640"/>
          </a:xfrm>
          <a:prstGeom prst="rect">
            <a:avLst/>
          </a:prstGeom>
          <a:noFill/>
          <a:ln/>
        </p:spPr>
        <p:txBody>
          <a:bodyPr wrap="square" lIns="0" tIns="0" rIns="0" bIns="0" rtlCol="0" anchor="ctr"/>
          <a:lstStyle/>
          <a:p>
            <a:pPr indent="0" marL="0">
              <a:buNone/>
            </a:pPr>
            <a:r>
              <a:rPr lang="en-US" sz="1300" dirty="0">
                <a:solidFill>
                  <a:srgbClr val="D6DEE8"/>
                </a:solidFill>
                <a:latin typeface="Yu Gothic" pitchFamily="34" charset="0"/>
                <a:ea typeface="Yu Gothic" pitchFamily="34" charset="-122"/>
                <a:cs typeface="Yu Gothic" pitchFamily="34" charset="-120"/>
              </a:rPr>
              <a:t>温度センシング（HB120）</a:t>
            </a:r>
            <a:endParaRPr lang="en-US" sz="1300" dirty="0"/>
          </a:p>
        </p:txBody>
      </p:sp>
      <p:sp>
        <p:nvSpPr>
          <p:cNvPr id="30" name="Shape 28"/>
          <p:cNvSpPr/>
          <p:nvPr/>
        </p:nvSpPr>
        <p:spPr>
          <a:xfrm>
            <a:off x="6537960" y="4206240"/>
            <a:ext cx="2423160" cy="548640"/>
          </a:xfrm>
          <a:prstGeom prst="roundRect">
            <a:avLst>
              <a:gd name="adj" fmla="val 16667"/>
            </a:avLst>
          </a:prstGeom>
          <a:solidFill>
            <a:srgbClr val="FFFFFF">
              <a:alpha val="8000"/>
            </a:srgbClr>
          </a:solidFill>
          <a:ln w="12700">
            <a:solidFill>
              <a:srgbClr val="FFFFFF">
                <a:alpha val="30000"/>
              </a:srgbClr>
            </a:solidFill>
            <a:prstDash val="dash"/>
          </a:ln>
        </p:spPr>
      </p:sp>
      <p:sp>
        <p:nvSpPr>
          <p:cNvPr id="31" name="Text 29"/>
          <p:cNvSpPr/>
          <p:nvPr/>
        </p:nvSpPr>
        <p:spPr>
          <a:xfrm>
            <a:off x="6675120" y="4206240"/>
            <a:ext cx="274320" cy="548640"/>
          </a:xfrm>
          <a:prstGeom prst="rect">
            <a:avLst/>
          </a:prstGeom>
          <a:noFill/>
          <a:ln/>
        </p:spPr>
        <p:txBody>
          <a:bodyPr wrap="square" lIns="0" tIns="0" rIns="0" bIns="0" rtlCol="0" anchor="ctr"/>
          <a:lstStyle/>
          <a:p>
            <a:pPr indent="0" marL="0">
              <a:buNone/>
            </a:pPr>
            <a:r>
              <a:rPr lang="en-US" sz="1600" b="1" dirty="0">
                <a:solidFill>
                  <a:srgbClr val="C4B5FD"/>
                </a:solidFill>
                <a:latin typeface="Yu Gothic" pitchFamily="34" charset="0"/>
                <a:ea typeface="Yu Gothic" pitchFamily="34" charset="-122"/>
                <a:cs typeface="Yu Gothic" pitchFamily="34" charset="-120"/>
              </a:rPr>
              <a:t>+</a:t>
            </a:r>
            <a:endParaRPr lang="en-US" sz="1600" dirty="0"/>
          </a:p>
        </p:txBody>
      </p:sp>
      <p:sp>
        <p:nvSpPr>
          <p:cNvPr id="32" name="Text 30"/>
          <p:cNvSpPr/>
          <p:nvPr/>
        </p:nvSpPr>
        <p:spPr>
          <a:xfrm>
            <a:off x="6949440" y="4206240"/>
            <a:ext cx="1965960" cy="548640"/>
          </a:xfrm>
          <a:prstGeom prst="rect">
            <a:avLst/>
          </a:prstGeom>
          <a:noFill/>
          <a:ln/>
        </p:spPr>
        <p:txBody>
          <a:bodyPr wrap="square" lIns="0" tIns="0" rIns="0" bIns="0" rtlCol="0" anchor="ctr"/>
          <a:lstStyle/>
          <a:p>
            <a:pPr indent="0" marL="0">
              <a:buNone/>
            </a:pPr>
            <a:r>
              <a:rPr lang="en-US" sz="1300" dirty="0">
                <a:solidFill>
                  <a:srgbClr val="D6DEE8"/>
                </a:solidFill>
                <a:latin typeface="Yu Gothic" pitchFamily="34" charset="0"/>
                <a:ea typeface="Yu Gothic" pitchFamily="34" charset="-122"/>
                <a:cs typeface="Yu Gothic" pitchFamily="34" charset="-120"/>
              </a:rPr>
              <a:t>開閉検知</a:t>
            </a:r>
            <a:endParaRPr lang="en-US" sz="1300" dirty="0"/>
          </a:p>
        </p:txBody>
      </p:sp>
      <p:sp>
        <p:nvSpPr>
          <p:cNvPr id="33" name="Shape 31"/>
          <p:cNvSpPr/>
          <p:nvPr/>
        </p:nvSpPr>
        <p:spPr>
          <a:xfrm>
            <a:off x="9098280" y="4206240"/>
            <a:ext cx="2423160" cy="548640"/>
          </a:xfrm>
          <a:prstGeom prst="roundRect">
            <a:avLst>
              <a:gd name="adj" fmla="val 16667"/>
            </a:avLst>
          </a:prstGeom>
          <a:solidFill>
            <a:srgbClr val="FFFFFF">
              <a:alpha val="8000"/>
            </a:srgbClr>
          </a:solidFill>
          <a:ln w="12700">
            <a:solidFill>
              <a:srgbClr val="FFFFFF">
                <a:alpha val="30000"/>
              </a:srgbClr>
            </a:solidFill>
            <a:prstDash val="dash"/>
          </a:ln>
        </p:spPr>
      </p:sp>
      <p:sp>
        <p:nvSpPr>
          <p:cNvPr id="34" name="Text 32"/>
          <p:cNvSpPr/>
          <p:nvPr/>
        </p:nvSpPr>
        <p:spPr>
          <a:xfrm>
            <a:off x="9235440" y="4206240"/>
            <a:ext cx="274320" cy="548640"/>
          </a:xfrm>
          <a:prstGeom prst="rect">
            <a:avLst/>
          </a:prstGeom>
          <a:noFill/>
          <a:ln/>
        </p:spPr>
        <p:txBody>
          <a:bodyPr wrap="square" lIns="0" tIns="0" rIns="0" bIns="0" rtlCol="0" anchor="ctr"/>
          <a:lstStyle/>
          <a:p>
            <a:pPr indent="0" marL="0">
              <a:buNone/>
            </a:pPr>
            <a:r>
              <a:rPr lang="en-US" sz="1600" b="1" dirty="0">
                <a:solidFill>
                  <a:srgbClr val="C4B5FD"/>
                </a:solidFill>
                <a:latin typeface="Yu Gothic" pitchFamily="34" charset="0"/>
                <a:ea typeface="Yu Gothic" pitchFamily="34" charset="-122"/>
                <a:cs typeface="Yu Gothic" pitchFamily="34" charset="-120"/>
              </a:rPr>
              <a:t>+</a:t>
            </a:r>
            <a:endParaRPr lang="en-US" sz="1600" dirty="0"/>
          </a:p>
        </p:txBody>
      </p:sp>
      <p:sp>
        <p:nvSpPr>
          <p:cNvPr id="35" name="Text 33"/>
          <p:cNvSpPr/>
          <p:nvPr/>
        </p:nvSpPr>
        <p:spPr>
          <a:xfrm>
            <a:off x="9509760" y="4206240"/>
            <a:ext cx="1965960" cy="548640"/>
          </a:xfrm>
          <a:prstGeom prst="rect">
            <a:avLst/>
          </a:prstGeom>
          <a:noFill/>
          <a:ln/>
        </p:spPr>
        <p:txBody>
          <a:bodyPr wrap="square" lIns="0" tIns="0" rIns="0" bIns="0" rtlCol="0" anchor="ctr"/>
          <a:lstStyle/>
          <a:p>
            <a:pPr indent="0" marL="0">
              <a:buNone/>
            </a:pPr>
            <a:r>
              <a:rPr lang="en-US" sz="1300" dirty="0">
                <a:solidFill>
                  <a:srgbClr val="D6DEE8"/>
                </a:solidFill>
                <a:latin typeface="Yu Gothic" pitchFamily="34" charset="0"/>
                <a:ea typeface="Yu Gothic" pitchFamily="34" charset="-122"/>
                <a:cs typeface="Yu Gothic" pitchFamily="34" charset="-120"/>
              </a:rPr>
              <a:t>ノーコード / プリプログラム</a:t>
            </a:r>
            <a:endParaRPr lang="en-US" sz="1300" dirty="0"/>
          </a:p>
        </p:txBody>
      </p:sp>
      <p:sp>
        <p:nvSpPr>
          <p:cNvPr id="36" name="Shape 34"/>
          <p:cNvSpPr/>
          <p:nvPr/>
        </p:nvSpPr>
        <p:spPr>
          <a:xfrm>
            <a:off x="640080" y="5440680"/>
            <a:ext cx="11109960" cy="502920"/>
          </a:xfrm>
          <a:prstGeom prst="rect">
            <a:avLst/>
          </a:prstGeom>
          <a:solidFill>
            <a:srgbClr val="FFFBEB"/>
          </a:solidFill>
          <a:ln w="12700">
            <a:solidFill>
              <a:srgbClr val="F59E0B"/>
            </a:solidFill>
            <a:prstDash val="solid"/>
          </a:ln>
        </p:spPr>
      </p:sp>
      <p:sp>
        <p:nvSpPr>
          <p:cNvPr id="37" name="Shape 35"/>
          <p:cNvSpPr/>
          <p:nvPr/>
        </p:nvSpPr>
        <p:spPr>
          <a:xfrm>
            <a:off x="640080" y="5440680"/>
            <a:ext cx="91440" cy="502920"/>
          </a:xfrm>
          <a:prstGeom prst="rect">
            <a:avLst/>
          </a:prstGeom>
          <a:solidFill>
            <a:srgbClr val="F59E0B"/>
          </a:solidFill>
          <a:ln w="12700">
            <a:solidFill>
              <a:srgbClr val="F59E0B"/>
            </a:solidFill>
            <a:prstDash val="solid"/>
          </a:ln>
        </p:spPr>
      </p:sp>
      <p:sp>
        <p:nvSpPr>
          <p:cNvPr id="38" name="Text 36"/>
          <p:cNvSpPr/>
          <p:nvPr/>
        </p:nvSpPr>
        <p:spPr>
          <a:xfrm>
            <a:off x="868680" y="5440680"/>
            <a:ext cx="10789920" cy="502920"/>
          </a:xfrm>
          <a:prstGeom prst="rect">
            <a:avLst/>
          </a:prstGeom>
          <a:noFill/>
          <a:ln/>
        </p:spPr>
        <p:txBody>
          <a:bodyPr wrap="square" lIns="0" tIns="0" rIns="0" bIns="0" rtlCol="0" anchor="ctr"/>
          <a:lstStyle/>
          <a:p>
            <a:pPr indent="0" marL="0">
              <a:buNone/>
            </a:pPr>
            <a:r>
              <a:rPr lang="en-US" sz="1200" b="1" dirty="0">
                <a:solidFill>
                  <a:srgbClr val="78350F"/>
                </a:solidFill>
                <a:latin typeface="Yu Gothic" pitchFamily="34" charset="0"/>
                <a:ea typeface="Yu Gothic" pitchFamily="34" charset="-122"/>
                <a:cs typeface="Yu Gothic" pitchFamily="34" charset="-120"/>
              </a:rPr>
              <a:t>🔋  ボタン電池駆動  ·  全製品が数年単位のバッテリー寿命</a:t>
            </a:r>
            <a:endParaRPr lang="en-US" sz="1200" dirty="0"/>
          </a:p>
        </p:txBody>
      </p:sp>
      <p:sp>
        <p:nvSpPr>
          <p:cNvPr id="39" name="Text 37"/>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40" name="Text 38"/>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アプリケーション 事例</a:t>
            </a:r>
            <a:endParaRPr lang="en-US" sz="1000" dirty="0"/>
          </a:p>
        </p:txBody>
      </p:sp>
      <p:sp>
        <p:nvSpPr>
          <p:cNvPr id="3" name="Text 1"/>
          <p:cNvSpPr/>
          <p:nvPr/>
        </p:nvSpPr>
        <p:spPr>
          <a:xfrm>
            <a:off x="640080" y="960120"/>
            <a:ext cx="10972800" cy="914400"/>
          </a:xfrm>
          <a:prstGeom prst="rect">
            <a:avLst/>
          </a:prstGeom>
          <a:noFill/>
          <a:ln/>
        </p:spPr>
        <p:txBody>
          <a:bodyPr wrap="square" lIns="0" tIns="0" rIns="0" bIns="0" rtlCol="0" anchor="ctr"/>
          <a:lstStyle/>
          <a:p>
            <a:pPr indent="0" marL="0">
              <a:buNone/>
            </a:pPr>
            <a:r>
              <a:rPr lang="en-US" sz="3200" b="1" dirty="0">
                <a:solidFill>
                  <a:srgbClr val="0A1628"/>
                </a:solidFill>
                <a:latin typeface="Yu Gothic" pitchFamily="34" charset="0"/>
                <a:ea typeface="Yu Gothic" pitchFamily="34" charset="-122"/>
                <a:cs typeface="Yu Gothic" pitchFamily="34" charset="-120"/>
              </a:rPr>
              <a:t>実ユースケース</a:t>
            </a:r>
            <a:endParaRPr lang="en-US" sz="3200" dirty="0"/>
          </a:p>
        </p:txBody>
      </p:sp>
      <p:sp>
        <p:nvSpPr>
          <p:cNvPr id="4" name="Shape 2"/>
          <p:cNvSpPr/>
          <p:nvPr/>
        </p:nvSpPr>
        <p:spPr>
          <a:xfrm>
            <a:off x="640080" y="2377440"/>
            <a:ext cx="3611880" cy="365760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5" name="Shape 3"/>
          <p:cNvSpPr/>
          <p:nvPr/>
        </p:nvSpPr>
        <p:spPr>
          <a:xfrm>
            <a:off x="640080" y="2377440"/>
            <a:ext cx="3611880" cy="73152"/>
          </a:xfrm>
          <a:prstGeom prst="rect">
            <a:avLst/>
          </a:prstGeom>
          <a:solidFill>
            <a:srgbClr val="38BDF8"/>
          </a:solidFill>
          <a:ln w="12700">
            <a:solidFill>
              <a:srgbClr val="38BDF8"/>
            </a:solidFill>
            <a:prstDash val="solid"/>
          </a:ln>
        </p:spPr>
      </p:sp>
      <p:sp>
        <p:nvSpPr>
          <p:cNvPr id="6" name="Text 4"/>
          <p:cNvSpPr/>
          <p:nvPr/>
        </p:nvSpPr>
        <p:spPr>
          <a:xfrm>
            <a:off x="960120" y="2651760"/>
            <a:ext cx="1097280" cy="822960"/>
          </a:xfrm>
          <a:prstGeom prst="rect">
            <a:avLst/>
          </a:prstGeom>
          <a:noFill/>
          <a:ln/>
        </p:spPr>
        <p:txBody>
          <a:bodyPr wrap="square" lIns="0" tIns="0" rIns="0" bIns="0" rtlCol="0" anchor="ctr"/>
          <a:lstStyle/>
          <a:p>
            <a:pPr indent="0" marL="0">
              <a:buNone/>
            </a:pPr>
            <a:r>
              <a:rPr lang="en-US" sz="3800" dirty="0">
                <a:solidFill>
                  <a:srgbClr val="000000"/>
                </a:solidFill>
                <a:latin typeface="Apple Color Emoji" pitchFamily="34" charset="0"/>
                <a:ea typeface="Apple Color Emoji" pitchFamily="34" charset="-122"/>
                <a:cs typeface="Apple Color Emoji" pitchFamily="34" charset="-120"/>
              </a:rPr>
              <a:t>🧊</a:t>
            </a:r>
            <a:endParaRPr lang="en-US" sz="3800" dirty="0"/>
          </a:p>
        </p:txBody>
      </p:sp>
      <p:sp>
        <p:nvSpPr>
          <p:cNvPr id="7" name="Text 5"/>
          <p:cNvSpPr/>
          <p:nvPr/>
        </p:nvSpPr>
        <p:spPr>
          <a:xfrm>
            <a:off x="960120" y="3520440"/>
            <a:ext cx="2971800" cy="457200"/>
          </a:xfrm>
          <a:prstGeom prst="rect">
            <a:avLst/>
          </a:prstGeom>
          <a:noFill/>
          <a:ln/>
        </p:spPr>
        <p:txBody>
          <a:bodyPr wrap="square" lIns="0" tIns="0" rIns="0" bIns="0" rtlCol="0" anchor="ctr"/>
          <a:lstStyle/>
          <a:p>
            <a:pPr indent="0" marL="0">
              <a:buNone/>
            </a:pPr>
            <a:r>
              <a:rPr lang="en-US" sz="1800" b="1" dirty="0">
                <a:solidFill>
                  <a:srgbClr val="0A1628"/>
                </a:solidFill>
                <a:latin typeface="Yu Gothic" pitchFamily="34" charset="0"/>
                <a:ea typeface="Yu Gothic" pitchFamily="34" charset="-122"/>
                <a:cs typeface="Yu Gothic" pitchFamily="34" charset="-120"/>
              </a:rPr>
              <a:t>コールドチェーン監視</a:t>
            </a:r>
            <a:endParaRPr lang="en-US" sz="1800" dirty="0"/>
          </a:p>
        </p:txBody>
      </p:sp>
      <p:sp>
        <p:nvSpPr>
          <p:cNvPr id="8" name="Shape 6"/>
          <p:cNvSpPr/>
          <p:nvPr/>
        </p:nvSpPr>
        <p:spPr>
          <a:xfrm>
            <a:off x="960120" y="4069080"/>
            <a:ext cx="2971800" cy="0"/>
          </a:xfrm>
          <a:prstGeom prst="line">
            <a:avLst/>
          </a:prstGeom>
          <a:noFill/>
          <a:ln w="12700">
            <a:solidFill>
              <a:srgbClr val="E2E8F0"/>
            </a:solidFill>
            <a:prstDash val="solid"/>
          </a:ln>
        </p:spPr>
      </p:sp>
      <p:sp>
        <p:nvSpPr>
          <p:cNvPr id="9" name="Text 7"/>
          <p:cNvSpPr/>
          <p:nvPr/>
        </p:nvSpPr>
        <p:spPr>
          <a:xfrm>
            <a:off x="960120" y="4160520"/>
            <a:ext cx="2971800" cy="274320"/>
          </a:xfrm>
          <a:prstGeom prst="rect">
            <a:avLst/>
          </a:prstGeom>
          <a:noFill/>
          <a:ln/>
        </p:spPr>
        <p:txBody>
          <a:bodyPr wrap="square" lIns="0" tIns="0" rIns="0" bIns="0" rtlCol="0" anchor="ctr"/>
          <a:lstStyle/>
          <a:p>
            <a:pPr indent="0" marL="0">
              <a:buNone/>
            </a:pPr>
            <a:r>
              <a:rPr lang="en-US" sz="900" b="1" spc="200" kern="0" dirty="0">
                <a:solidFill>
                  <a:srgbClr val="94A3B8"/>
                </a:solidFill>
                <a:latin typeface="Yu Gothic" pitchFamily="34" charset="0"/>
                <a:ea typeface="Yu Gothic" pitchFamily="34" charset="-122"/>
                <a:cs typeface="Yu Gothic" pitchFamily="34" charset="-120"/>
              </a:rPr>
              <a:t>推奨センサー構成</a:t>
            </a:r>
            <a:endParaRPr lang="en-US" sz="900" dirty="0"/>
          </a:p>
        </p:txBody>
      </p:sp>
      <p:sp>
        <p:nvSpPr>
          <p:cNvPr id="10" name="Shape 8"/>
          <p:cNvSpPr/>
          <p:nvPr/>
        </p:nvSpPr>
        <p:spPr>
          <a:xfrm>
            <a:off x="960120" y="4480560"/>
            <a:ext cx="777240" cy="292608"/>
          </a:xfrm>
          <a:prstGeom prst="roundRect">
            <a:avLst>
              <a:gd name="adj" fmla="val 21875"/>
            </a:avLst>
          </a:prstGeom>
          <a:solidFill>
            <a:srgbClr val="FFFFFF"/>
          </a:solidFill>
          <a:ln w="12700">
            <a:solidFill>
              <a:srgbClr val="38BDF8">
                <a:alpha val="70000"/>
              </a:srgbClr>
            </a:solidFill>
            <a:prstDash val="solid"/>
          </a:ln>
        </p:spPr>
      </p:sp>
      <p:sp>
        <p:nvSpPr>
          <p:cNvPr id="11" name="Text 9"/>
          <p:cNvSpPr/>
          <p:nvPr/>
        </p:nvSpPr>
        <p:spPr>
          <a:xfrm>
            <a:off x="960120"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温度</a:t>
            </a:r>
            <a:endParaRPr lang="en-US" sz="1000" dirty="0"/>
          </a:p>
        </p:txBody>
      </p:sp>
      <p:sp>
        <p:nvSpPr>
          <p:cNvPr id="12" name="Shape 10"/>
          <p:cNvSpPr/>
          <p:nvPr/>
        </p:nvSpPr>
        <p:spPr>
          <a:xfrm>
            <a:off x="1810512" y="4480560"/>
            <a:ext cx="777240" cy="292608"/>
          </a:xfrm>
          <a:prstGeom prst="roundRect">
            <a:avLst>
              <a:gd name="adj" fmla="val 21875"/>
            </a:avLst>
          </a:prstGeom>
          <a:solidFill>
            <a:srgbClr val="FFFFFF"/>
          </a:solidFill>
          <a:ln w="12700">
            <a:solidFill>
              <a:srgbClr val="38BDF8">
                <a:alpha val="70000"/>
              </a:srgbClr>
            </a:solidFill>
            <a:prstDash val="solid"/>
          </a:ln>
        </p:spPr>
      </p:sp>
      <p:sp>
        <p:nvSpPr>
          <p:cNvPr id="13" name="Text 11"/>
          <p:cNvSpPr/>
          <p:nvPr/>
        </p:nvSpPr>
        <p:spPr>
          <a:xfrm>
            <a:off x="1810512"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湿度</a:t>
            </a:r>
            <a:endParaRPr lang="en-US" sz="1000" dirty="0"/>
          </a:p>
        </p:txBody>
      </p:sp>
      <p:sp>
        <p:nvSpPr>
          <p:cNvPr id="14" name="Shape 12"/>
          <p:cNvSpPr/>
          <p:nvPr/>
        </p:nvSpPr>
        <p:spPr>
          <a:xfrm>
            <a:off x="2660904" y="4480560"/>
            <a:ext cx="777240" cy="292608"/>
          </a:xfrm>
          <a:prstGeom prst="roundRect">
            <a:avLst>
              <a:gd name="adj" fmla="val 21875"/>
            </a:avLst>
          </a:prstGeom>
          <a:solidFill>
            <a:srgbClr val="FFFFFF"/>
          </a:solidFill>
          <a:ln w="12700">
            <a:solidFill>
              <a:srgbClr val="38BDF8">
                <a:alpha val="70000"/>
              </a:srgbClr>
            </a:solidFill>
            <a:prstDash val="solid"/>
          </a:ln>
        </p:spPr>
      </p:sp>
      <p:sp>
        <p:nvSpPr>
          <p:cNvPr id="15" name="Text 13"/>
          <p:cNvSpPr/>
          <p:nvPr/>
        </p:nvSpPr>
        <p:spPr>
          <a:xfrm>
            <a:off x="2660904"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振動</a:t>
            </a:r>
            <a:endParaRPr lang="en-US" sz="1000" dirty="0"/>
          </a:p>
        </p:txBody>
      </p:sp>
      <p:sp>
        <p:nvSpPr>
          <p:cNvPr id="16" name="Shape 14"/>
          <p:cNvSpPr/>
          <p:nvPr/>
        </p:nvSpPr>
        <p:spPr>
          <a:xfrm>
            <a:off x="960120" y="4846320"/>
            <a:ext cx="960120" cy="292608"/>
          </a:xfrm>
          <a:prstGeom prst="roundRect">
            <a:avLst>
              <a:gd name="adj" fmla="val 21875"/>
            </a:avLst>
          </a:prstGeom>
          <a:solidFill>
            <a:srgbClr val="FFFFFF"/>
          </a:solidFill>
          <a:ln w="12700">
            <a:solidFill>
              <a:srgbClr val="38BDF8">
                <a:alpha val="70000"/>
              </a:srgbClr>
            </a:solidFill>
            <a:prstDash val="solid"/>
          </a:ln>
        </p:spPr>
      </p:sp>
      <p:sp>
        <p:nvSpPr>
          <p:cNvPr id="17" name="Text 15"/>
          <p:cNvSpPr/>
          <p:nvPr/>
        </p:nvSpPr>
        <p:spPr>
          <a:xfrm>
            <a:off x="960120" y="4846320"/>
            <a:ext cx="96012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ドアセンサー</a:t>
            </a:r>
            <a:endParaRPr lang="en-US" sz="1000" dirty="0"/>
          </a:p>
        </p:txBody>
      </p:sp>
      <p:sp>
        <p:nvSpPr>
          <p:cNvPr id="18" name="Shape 16"/>
          <p:cNvSpPr/>
          <p:nvPr/>
        </p:nvSpPr>
        <p:spPr>
          <a:xfrm>
            <a:off x="4434840" y="2377440"/>
            <a:ext cx="3611880" cy="365760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19" name="Shape 17"/>
          <p:cNvSpPr/>
          <p:nvPr/>
        </p:nvSpPr>
        <p:spPr>
          <a:xfrm>
            <a:off x="4434840" y="2377440"/>
            <a:ext cx="3611880" cy="73152"/>
          </a:xfrm>
          <a:prstGeom prst="rect">
            <a:avLst/>
          </a:prstGeom>
          <a:solidFill>
            <a:srgbClr val="8B5CF6"/>
          </a:solidFill>
          <a:ln w="12700">
            <a:solidFill>
              <a:srgbClr val="8B5CF6"/>
            </a:solidFill>
            <a:prstDash val="solid"/>
          </a:ln>
        </p:spPr>
      </p:sp>
      <p:sp>
        <p:nvSpPr>
          <p:cNvPr id="20" name="Text 18"/>
          <p:cNvSpPr/>
          <p:nvPr/>
        </p:nvSpPr>
        <p:spPr>
          <a:xfrm>
            <a:off x="4754880" y="2651760"/>
            <a:ext cx="1097280" cy="822960"/>
          </a:xfrm>
          <a:prstGeom prst="rect">
            <a:avLst/>
          </a:prstGeom>
          <a:noFill/>
          <a:ln/>
        </p:spPr>
        <p:txBody>
          <a:bodyPr wrap="square" lIns="0" tIns="0" rIns="0" bIns="0" rtlCol="0" anchor="ctr"/>
          <a:lstStyle/>
          <a:p>
            <a:pPr indent="0" marL="0">
              <a:buNone/>
            </a:pPr>
            <a:r>
              <a:rPr lang="en-US" sz="3800" dirty="0">
                <a:solidFill>
                  <a:srgbClr val="000000"/>
                </a:solidFill>
                <a:latin typeface="Apple Color Emoji" pitchFamily="34" charset="0"/>
                <a:ea typeface="Apple Color Emoji" pitchFamily="34" charset="-122"/>
                <a:cs typeface="Apple Color Emoji" pitchFamily="34" charset="-120"/>
              </a:rPr>
              <a:t>⚙️</a:t>
            </a:r>
            <a:endParaRPr lang="en-US" sz="3800" dirty="0"/>
          </a:p>
        </p:txBody>
      </p:sp>
      <p:sp>
        <p:nvSpPr>
          <p:cNvPr id="21" name="Text 19"/>
          <p:cNvSpPr/>
          <p:nvPr/>
        </p:nvSpPr>
        <p:spPr>
          <a:xfrm>
            <a:off x="4754880" y="3520440"/>
            <a:ext cx="2971800" cy="457200"/>
          </a:xfrm>
          <a:prstGeom prst="rect">
            <a:avLst/>
          </a:prstGeom>
          <a:noFill/>
          <a:ln/>
        </p:spPr>
        <p:txBody>
          <a:bodyPr wrap="square" lIns="0" tIns="0" rIns="0" bIns="0" rtlCol="0" anchor="ctr"/>
          <a:lstStyle/>
          <a:p>
            <a:pPr indent="0" marL="0">
              <a:buNone/>
            </a:pPr>
            <a:r>
              <a:rPr lang="en-US" sz="1800" b="1" dirty="0">
                <a:solidFill>
                  <a:srgbClr val="0A1628"/>
                </a:solidFill>
                <a:latin typeface="Yu Gothic" pitchFamily="34" charset="0"/>
                <a:ea typeface="Yu Gothic" pitchFamily="34" charset="-122"/>
                <a:cs typeface="Yu Gothic" pitchFamily="34" charset="-120"/>
              </a:rPr>
              <a:t>予知保全</a:t>
            </a:r>
            <a:endParaRPr lang="en-US" sz="1800" dirty="0"/>
          </a:p>
        </p:txBody>
      </p:sp>
      <p:sp>
        <p:nvSpPr>
          <p:cNvPr id="22" name="Shape 20"/>
          <p:cNvSpPr/>
          <p:nvPr/>
        </p:nvSpPr>
        <p:spPr>
          <a:xfrm>
            <a:off x="4754880" y="4069080"/>
            <a:ext cx="2971800" cy="0"/>
          </a:xfrm>
          <a:prstGeom prst="line">
            <a:avLst/>
          </a:prstGeom>
          <a:noFill/>
          <a:ln w="12700">
            <a:solidFill>
              <a:srgbClr val="E2E8F0"/>
            </a:solidFill>
            <a:prstDash val="solid"/>
          </a:ln>
        </p:spPr>
      </p:sp>
      <p:sp>
        <p:nvSpPr>
          <p:cNvPr id="23" name="Text 21"/>
          <p:cNvSpPr/>
          <p:nvPr/>
        </p:nvSpPr>
        <p:spPr>
          <a:xfrm>
            <a:off x="4754880" y="4160520"/>
            <a:ext cx="2971800" cy="274320"/>
          </a:xfrm>
          <a:prstGeom prst="rect">
            <a:avLst/>
          </a:prstGeom>
          <a:noFill/>
          <a:ln/>
        </p:spPr>
        <p:txBody>
          <a:bodyPr wrap="square" lIns="0" tIns="0" rIns="0" bIns="0" rtlCol="0" anchor="ctr"/>
          <a:lstStyle/>
          <a:p>
            <a:pPr indent="0" marL="0">
              <a:buNone/>
            </a:pPr>
            <a:r>
              <a:rPr lang="en-US" sz="900" b="1" spc="200" kern="0" dirty="0">
                <a:solidFill>
                  <a:srgbClr val="94A3B8"/>
                </a:solidFill>
                <a:latin typeface="Yu Gothic" pitchFamily="34" charset="0"/>
                <a:ea typeface="Yu Gothic" pitchFamily="34" charset="-122"/>
                <a:cs typeface="Yu Gothic" pitchFamily="34" charset="-120"/>
              </a:rPr>
              <a:t>推奨センサー構成</a:t>
            </a:r>
            <a:endParaRPr lang="en-US" sz="900" dirty="0"/>
          </a:p>
        </p:txBody>
      </p:sp>
      <p:sp>
        <p:nvSpPr>
          <p:cNvPr id="24" name="Shape 22"/>
          <p:cNvSpPr/>
          <p:nvPr/>
        </p:nvSpPr>
        <p:spPr>
          <a:xfrm>
            <a:off x="4754880" y="4480560"/>
            <a:ext cx="777240" cy="292608"/>
          </a:xfrm>
          <a:prstGeom prst="roundRect">
            <a:avLst>
              <a:gd name="adj" fmla="val 21875"/>
            </a:avLst>
          </a:prstGeom>
          <a:solidFill>
            <a:srgbClr val="FFFFFF"/>
          </a:solidFill>
          <a:ln w="12700">
            <a:solidFill>
              <a:srgbClr val="8B5CF6">
                <a:alpha val="70000"/>
              </a:srgbClr>
            </a:solidFill>
            <a:prstDash val="solid"/>
          </a:ln>
        </p:spPr>
      </p:sp>
      <p:sp>
        <p:nvSpPr>
          <p:cNvPr id="25" name="Text 23"/>
          <p:cNvSpPr/>
          <p:nvPr/>
        </p:nvSpPr>
        <p:spPr>
          <a:xfrm>
            <a:off x="4754880"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振動</a:t>
            </a:r>
            <a:endParaRPr lang="en-US" sz="1000" dirty="0"/>
          </a:p>
        </p:txBody>
      </p:sp>
      <p:sp>
        <p:nvSpPr>
          <p:cNvPr id="26" name="Shape 24"/>
          <p:cNvSpPr/>
          <p:nvPr/>
        </p:nvSpPr>
        <p:spPr>
          <a:xfrm>
            <a:off x="5605272" y="4480560"/>
            <a:ext cx="777240" cy="292608"/>
          </a:xfrm>
          <a:prstGeom prst="roundRect">
            <a:avLst>
              <a:gd name="adj" fmla="val 21875"/>
            </a:avLst>
          </a:prstGeom>
          <a:solidFill>
            <a:srgbClr val="FFFFFF"/>
          </a:solidFill>
          <a:ln w="12700">
            <a:solidFill>
              <a:srgbClr val="8B5CF6">
                <a:alpha val="70000"/>
              </a:srgbClr>
            </a:solidFill>
            <a:prstDash val="solid"/>
          </a:ln>
        </p:spPr>
      </p:sp>
      <p:sp>
        <p:nvSpPr>
          <p:cNvPr id="27" name="Text 25"/>
          <p:cNvSpPr/>
          <p:nvPr/>
        </p:nvSpPr>
        <p:spPr>
          <a:xfrm>
            <a:off x="5605272"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温度</a:t>
            </a:r>
            <a:endParaRPr lang="en-US" sz="1000" dirty="0"/>
          </a:p>
        </p:txBody>
      </p:sp>
      <p:sp>
        <p:nvSpPr>
          <p:cNvPr id="28" name="Shape 26"/>
          <p:cNvSpPr/>
          <p:nvPr/>
        </p:nvSpPr>
        <p:spPr>
          <a:xfrm>
            <a:off x="6455664" y="4480560"/>
            <a:ext cx="777240" cy="292608"/>
          </a:xfrm>
          <a:prstGeom prst="roundRect">
            <a:avLst>
              <a:gd name="adj" fmla="val 21875"/>
            </a:avLst>
          </a:prstGeom>
          <a:solidFill>
            <a:srgbClr val="FFFFFF"/>
          </a:solidFill>
          <a:ln w="12700">
            <a:solidFill>
              <a:srgbClr val="8B5CF6">
                <a:alpha val="70000"/>
              </a:srgbClr>
            </a:solidFill>
            <a:prstDash val="solid"/>
          </a:ln>
        </p:spPr>
      </p:sp>
      <p:sp>
        <p:nvSpPr>
          <p:cNvPr id="29" name="Text 27"/>
          <p:cNvSpPr/>
          <p:nvPr/>
        </p:nvSpPr>
        <p:spPr>
          <a:xfrm>
            <a:off x="6455664"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エッジ AI</a:t>
            </a:r>
            <a:endParaRPr lang="en-US" sz="1000" dirty="0"/>
          </a:p>
        </p:txBody>
      </p:sp>
      <p:sp>
        <p:nvSpPr>
          <p:cNvPr id="30" name="Shape 28"/>
          <p:cNvSpPr/>
          <p:nvPr/>
        </p:nvSpPr>
        <p:spPr>
          <a:xfrm>
            <a:off x="8229600" y="2377440"/>
            <a:ext cx="3611880" cy="3657600"/>
          </a:xfrm>
          <a:prstGeom prst="rect">
            <a:avLst/>
          </a:prstGeom>
          <a:solidFill>
            <a:srgbClr val="F1F5F9"/>
          </a:solidFill>
          <a:ln w="12700">
            <a:solidFill>
              <a:srgbClr val="E2E8F0"/>
            </a:solidFill>
            <a:prstDash val="solid"/>
          </a:ln>
          <a:effectLst>
            <a:outerShdw sx="100000" sy="100000" kx="0" ky="0" algn="bl" rotWithShape="0" blurRad="203200" dist="50800" dir="5400000">
              <a:srgbClr val="102449">
                <a:alpha val="15000"/>
              </a:srgbClr>
            </a:outerShdw>
          </a:effectLst>
        </p:spPr>
      </p:sp>
      <p:sp>
        <p:nvSpPr>
          <p:cNvPr id="31" name="Shape 29"/>
          <p:cNvSpPr/>
          <p:nvPr/>
        </p:nvSpPr>
        <p:spPr>
          <a:xfrm>
            <a:off x="8229600" y="2377440"/>
            <a:ext cx="3611880" cy="73152"/>
          </a:xfrm>
          <a:prstGeom prst="rect">
            <a:avLst/>
          </a:prstGeom>
          <a:solidFill>
            <a:srgbClr val="10B981"/>
          </a:solidFill>
          <a:ln w="12700">
            <a:solidFill>
              <a:srgbClr val="10B981"/>
            </a:solidFill>
            <a:prstDash val="solid"/>
          </a:ln>
        </p:spPr>
      </p:sp>
      <p:sp>
        <p:nvSpPr>
          <p:cNvPr id="32" name="Text 30"/>
          <p:cNvSpPr/>
          <p:nvPr/>
        </p:nvSpPr>
        <p:spPr>
          <a:xfrm>
            <a:off x="8549640" y="2651760"/>
            <a:ext cx="1097280" cy="822960"/>
          </a:xfrm>
          <a:prstGeom prst="rect">
            <a:avLst/>
          </a:prstGeom>
          <a:noFill/>
          <a:ln/>
        </p:spPr>
        <p:txBody>
          <a:bodyPr wrap="square" lIns="0" tIns="0" rIns="0" bIns="0" rtlCol="0" anchor="ctr"/>
          <a:lstStyle/>
          <a:p>
            <a:pPr indent="0" marL="0">
              <a:buNone/>
            </a:pPr>
            <a:r>
              <a:rPr lang="en-US" sz="3800" dirty="0">
                <a:solidFill>
                  <a:srgbClr val="000000"/>
                </a:solidFill>
                <a:latin typeface="Apple Color Emoji" pitchFamily="34" charset="0"/>
                <a:ea typeface="Apple Color Emoji" pitchFamily="34" charset="-122"/>
                <a:cs typeface="Apple Color Emoji" pitchFamily="34" charset="-120"/>
              </a:rPr>
              <a:t>🏢</a:t>
            </a:r>
            <a:endParaRPr lang="en-US" sz="3800" dirty="0"/>
          </a:p>
        </p:txBody>
      </p:sp>
      <p:sp>
        <p:nvSpPr>
          <p:cNvPr id="33" name="Text 31"/>
          <p:cNvSpPr/>
          <p:nvPr/>
        </p:nvSpPr>
        <p:spPr>
          <a:xfrm>
            <a:off x="8549640" y="3520440"/>
            <a:ext cx="2971800" cy="457200"/>
          </a:xfrm>
          <a:prstGeom prst="rect">
            <a:avLst/>
          </a:prstGeom>
          <a:noFill/>
          <a:ln/>
        </p:spPr>
        <p:txBody>
          <a:bodyPr wrap="square" lIns="0" tIns="0" rIns="0" bIns="0" rtlCol="0" anchor="ctr"/>
          <a:lstStyle/>
          <a:p>
            <a:pPr indent="0" marL="0">
              <a:buNone/>
            </a:pPr>
            <a:r>
              <a:rPr lang="en-US" sz="1800" b="1" dirty="0">
                <a:solidFill>
                  <a:srgbClr val="0A1628"/>
                </a:solidFill>
                <a:latin typeface="Yu Gothic" pitchFamily="34" charset="0"/>
                <a:ea typeface="Yu Gothic" pitchFamily="34" charset="-122"/>
                <a:cs typeface="Yu Gothic" pitchFamily="34" charset="-120"/>
              </a:rPr>
              <a:t>スマートビル HVAC</a:t>
            </a:r>
            <a:endParaRPr lang="en-US" sz="1800" dirty="0"/>
          </a:p>
        </p:txBody>
      </p:sp>
      <p:sp>
        <p:nvSpPr>
          <p:cNvPr id="34" name="Shape 32"/>
          <p:cNvSpPr/>
          <p:nvPr/>
        </p:nvSpPr>
        <p:spPr>
          <a:xfrm>
            <a:off x="8549640" y="4069080"/>
            <a:ext cx="2971800" cy="0"/>
          </a:xfrm>
          <a:prstGeom prst="line">
            <a:avLst/>
          </a:prstGeom>
          <a:noFill/>
          <a:ln w="12700">
            <a:solidFill>
              <a:srgbClr val="E2E8F0"/>
            </a:solidFill>
            <a:prstDash val="solid"/>
          </a:ln>
        </p:spPr>
      </p:sp>
      <p:sp>
        <p:nvSpPr>
          <p:cNvPr id="35" name="Text 33"/>
          <p:cNvSpPr/>
          <p:nvPr/>
        </p:nvSpPr>
        <p:spPr>
          <a:xfrm>
            <a:off x="8549640" y="4160520"/>
            <a:ext cx="2971800" cy="274320"/>
          </a:xfrm>
          <a:prstGeom prst="rect">
            <a:avLst/>
          </a:prstGeom>
          <a:noFill/>
          <a:ln/>
        </p:spPr>
        <p:txBody>
          <a:bodyPr wrap="square" lIns="0" tIns="0" rIns="0" bIns="0" rtlCol="0" anchor="ctr"/>
          <a:lstStyle/>
          <a:p>
            <a:pPr indent="0" marL="0">
              <a:buNone/>
            </a:pPr>
            <a:r>
              <a:rPr lang="en-US" sz="900" b="1" spc="200" kern="0" dirty="0">
                <a:solidFill>
                  <a:srgbClr val="94A3B8"/>
                </a:solidFill>
                <a:latin typeface="Yu Gothic" pitchFamily="34" charset="0"/>
                <a:ea typeface="Yu Gothic" pitchFamily="34" charset="-122"/>
                <a:cs typeface="Yu Gothic" pitchFamily="34" charset="-120"/>
              </a:rPr>
              <a:t>推奨センサー構成</a:t>
            </a:r>
            <a:endParaRPr lang="en-US" sz="900" dirty="0"/>
          </a:p>
        </p:txBody>
      </p:sp>
      <p:sp>
        <p:nvSpPr>
          <p:cNvPr id="36" name="Shape 34"/>
          <p:cNvSpPr/>
          <p:nvPr/>
        </p:nvSpPr>
        <p:spPr>
          <a:xfrm>
            <a:off x="8549640" y="4480560"/>
            <a:ext cx="777240" cy="292608"/>
          </a:xfrm>
          <a:prstGeom prst="roundRect">
            <a:avLst>
              <a:gd name="adj" fmla="val 21875"/>
            </a:avLst>
          </a:prstGeom>
          <a:solidFill>
            <a:srgbClr val="FFFFFF"/>
          </a:solidFill>
          <a:ln w="12700">
            <a:solidFill>
              <a:srgbClr val="10B981">
                <a:alpha val="70000"/>
              </a:srgbClr>
            </a:solidFill>
            <a:prstDash val="solid"/>
          </a:ln>
        </p:spPr>
      </p:sp>
      <p:sp>
        <p:nvSpPr>
          <p:cNvPr id="37" name="Text 35"/>
          <p:cNvSpPr/>
          <p:nvPr/>
        </p:nvSpPr>
        <p:spPr>
          <a:xfrm>
            <a:off x="8549640"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温度</a:t>
            </a:r>
            <a:endParaRPr lang="en-US" sz="1000" dirty="0"/>
          </a:p>
        </p:txBody>
      </p:sp>
      <p:sp>
        <p:nvSpPr>
          <p:cNvPr id="38" name="Shape 36"/>
          <p:cNvSpPr/>
          <p:nvPr/>
        </p:nvSpPr>
        <p:spPr>
          <a:xfrm>
            <a:off x="9400032" y="4480560"/>
            <a:ext cx="777240" cy="292608"/>
          </a:xfrm>
          <a:prstGeom prst="roundRect">
            <a:avLst>
              <a:gd name="adj" fmla="val 21875"/>
            </a:avLst>
          </a:prstGeom>
          <a:solidFill>
            <a:srgbClr val="FFFFFF"/>
          </a:solidFill>
          <a:ln w="12700">
            <a:solidFill>
              <a:srgbClr val="10B981">
                <a:alpha val="70000"/>
              </a:srgbClr>
            </a:solidFill>
            <a:prstDash val="solid"/>
          </a:ln>
        </p:spPr>
      </p:sp>
      <p:sp>
        <p:nvSpPr>
          <p:cNvPr id="39" name="Text 37"/>
          <p:cNvSpPr/>
          <p:nvPr/>
        </p:nvSpPr>
        <p:spPr>
          <a:xfrm>
            <a:off x="9400032"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CO₂</a:t>
            </a:r>
            <a:endParaRPr lang="en-US" sz="1000" dirty="0"/>
          </a:p>
        </p:txBody>
      </p:sp>
      <p:sp>
        <p:nvSpPr>
          <p:cNvPr id="40" name="Shape 38"/>
          <p:cNvSpPr/>
          <p:nvPr/>
        </p:nvSpPr>
        <p:spPr>
          <a:xfrm>
            <a:off x="10250424" y="4480560"/>
            <a:ext cx="777240" cy="292608"/>
          </a:xfrm>
          <a:prstGeom prst="roundRect">
            <a:avLst>
              <a:gd name="adj" fmla="val 21875"/>
            </a:avLst>
          </a:prstGeom>
          <a:solidFill>
            <a:srgbClr val="FFFFFF"/>
          </a:solidFill>
          <a:ln w="12700">
            <a:solidFill>
              <a:srgbClr val="10B981">
                <a:alpha val="70000"/>
              </a:srgbClr>
            </a:solidFill>
            <a:prstDash val="solid"/>
          </a:ln>
        </p:spPr>
      </p:sp>
      <p:sp>
        <p:nvSpPr>
          <p:cNvPr id="41" name="Text 39"/>
          <p:cNvSpPr/>
          <p:nvPr/>
        </p:nvSpPr>
        <p:spPr>
          <a:xfrm>
            <a:off x="10250424" y="448056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PIR</a:t>
            </a:r>
            <a:endParaRPr lang="en-US" sz="1000" dirty="0"/>
          </a:p>
        </p:txBody>
      </p:sp>
      <p:sp>
        <p:nvSpPr>
          <p:cNvPr id="42" name="Shape 40"/>
          <p:cNvSpPr/>
          <p:nvPr/>
        </p:nvSpPr>
        <p:spPr>
          <a:xfrm>
            <a:off x="8549640" y="4846320"/>
            <a:ext cx="960120" cy="292608"/>
          </a:xfrm>
          <a:prstGeom prst="roundRect">
            <a:avLst>
              <a:gd name="adj" fmla="val 21875"/>
            </a:avLst>
          </a:prstGeom>
          <a:solidFill>
            <a:srgbClr val="FFFFFF"/>
          </a:solidFill>
          <a:ln w="12700">
            <a:solidFill>
              <a:srgbClr val="10B981">
                <a:alpha val="70000"/>
              </a:srgbClr>
            </a:solidFill>
            <a:prstDash val="solid"/>
          </a:ln>
        </p:spPr>
      </p:sp>
      <p:sp>
        <p:nvSpPr>
          <p:cNvPr id="43" name="Text 41"/>
          <p:cNvSpPr/>
          <p:nvPr/>
        </p:nvSpPr>
        <p:spPr>
          <a:xfrm>
            <a:off x="8549640" y="4846320"/>
            <a:ext cx="96012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BLE Mesh</a:t>
            </a:r>
            <a:endParaRPr lang="en-US" sz="1000" dirty="0"/>
          </a:p>
        </p:txBody>
      </p:sp>
      <p:sp>
        <p:nvSpPr>
          <p:cNvPr id="44" name="Shape 42"/>
          <p:cNvSpPr/>
          <p:nvPr/>
        </p:nvSpPr>
        <p:spPr>
          <a:xfrm>
            <a:off x="9582912" y="4846320"/>
            <a:ext cx="777240" cy="292608"/>
          </a:xfrm>
          <a:prstGeom prst="roundRect">
            <a:avLst>
              <a:gd name="adj" fmla="val 21875"/>
            </a:avLst>
          </a:prstGeom>
          <a:solidFill>
            <a:srgbClr val="FFFFFF"/>
          </a:solidFill>
          <a:ln w="12700">
            <a:solidFill>
              <a:srgbClr val="10B981">
                <a:alpha val="70000"/>
              </a:srgbClr>
            </a:solidFill>
            <a:prstDash val="solid"/>
          </a:ln>
        </p:spPr>
      </p:sp>
      <p:sp>
        <p:nvSpPr>
          <p:cNvPr id="45" name="Text 43"/>
          <p:cNvSpPr/>
          <p:nvPr/>
        </p:nvSpPr>
        <p:spPr>
          <a:xfrm>
            <a:off x="9582912" y="4846320"/>
            <a:ext cx="777240" cy="292608"/>
          </a:xfrm>
          <a:prstGeom prst="rect">
            <a:avLst/>
          </a:prstGeom>
          <a:noFill/>
          <a:ln/>
        </p:spPr>
        <p:txBody>
          <a:bodyPr wrap="square" lIns="0" tIns="0" rIns="0" bIns="0" rtlCol="0" anchor="ctr"/>
          <a:lstStyle/>
          <a:p>
            <a:pPr algn="ctr" indent="0" marL="0">
              <a:buNone/>
            </a:pPr>
            <a:r>
              <a:rPr lang="en-US" sz="1000" b="1" dirty="0">
                <a:solidFill>
                  <a:srgbClr val="0F2044"/>
                </a:solidFill>
                <a:latin typeface="Yu Gothic" pitchFamily="34" charset="0"/>
                <a:ea typeface="Yu Gothic" pitchFamily="34" charset="-122"/>
                <a:cs typeface="Yu Gothic" pitchFamily="34" charset="-120"/>
              </a:rPr>
              <a:t>CO₂</a:t>
            </a:r>
            <a:endParaRPr lang="en-US" sz="1000" dirty="0"/>
          </a:p>
        </p:txBody>
      </p:sp>
      <p:sp>
        <p:nvSpPr>
          <p:cNvPr id="46" name="Text 44"/>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47" name="Text 45"/>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2743200" y="-2743200"/>
            <a:ext cx="7315200" cy="7315200"/>
          </a:xfrm>
          <a:prstGeom prst="ellipse">
            <a:avLst/>
          </a:prstGeom>
          <a:solidFill>
            <a:srgbClr val="38BDF8">
              <a:alpha val="10000"/>
            </a:srgbClr>
          </a:solidFill>
          <a:ln w="12700">
            <a:solidFill>
              <a:srgbClr val="38BDF8">
                <a:alpha val="0"/>
              </a:srgbClr>
            </a:solidFill>
            <a:prstDash val="solid"/>
          </a:ln>
        </p:spPr>
      </p:sp>
      <p:sp>
        <p:nvSpPr>
          <p:cNvPr id="3" name="Text 1"/>
          <p:cNvSpPr/>
          <p:nvPr/>
        </p:nvSpPr>
        <p:spPr>
          <a:xfrm>
            <a:off x="640080" y="640080"/>
            <a:ext cx="3657600" cy="274320"/>
          </a:xfrm>
          <a:prstGeom prst="rect">
            <a:avLst/>
          </a:prstGeom>
          <a:noFill/>
          <a:ln/>
        </p:spPr>
        <p:txBody>
          <a:bodyPr wrap="square" lIns="0" tIns="0" rIns="0" bIns="0" rtlCol="0" anchor="ctr"/>
          <a:lstStyle/>
          <a:p>
            <a:pPr algn="l" indent="0" marL="0">
              <a:buNone/>
            </a:pPr>
            <a:r>
              <a:rPr lang="en-US" sz="1000" b="1" spc="400" kern="0" dirty="0">
                <a:solidFill>
                  <a:srgbClr val="38BDF8"/>
                </a:solidFill>
                <a:latin typeface="Yu Gothic" pitchFamily="34" charset="0"/>
                <a:ea typeface="Yu Gothic" pitchFamily="34" charset="-122"/>
                <a:cs typeface="Yu Gothic" pitchFamily="34" charset="-120"/>
              </a:rPr>
              <a:t>ミッション  &amp;  ビジョン</a:t>
            </a:r>
            <a:endParaRPr lang="en-US" sz="1000" dirty="0"/>
          </a:p>
        </p:txBody>
      </p:sp>
      <p:sp>
        <p:nvSpPr>
          <p:cNvPr id="4" name="Text 2"/>
          <p:cNvSpPr/>
          <p:nvPr/>
        </p:nvSpPr>
        <p:spPr>
          <a:xfrm>
            <a:off x="640080" y="1371600"/>
            <a:ext cx="10972800" cy="1097280"/>
          </a:xfrm>
          <a:prstGeom prst="rect">
            <a:avLst/>
          </a:prstGeom>
          <a:noFill/>
          <a:ln/>
        </p:spPr>
        <p:txBody>
          <a:bodyPr wrap="square" lIns="0" tIns="0" rIns="0" bIns="0" rtlCol="0" anchor="ctr"/>
          <a:lstStyle/>
          <a:p>
            <a:pPr indent="0" marL="0">
              <a:buNone/>
            </a:pPr>
            <a:r>
              <a:rPr lang="en-US" sz="4400" b="1" dirty="0">
                <a:solidFill>
                  <a:srgbClr val="38BDF8"/>
                </a:solidFill>
                <a:latin typeface="Yu Gothic" pitchFamily="34" charset="0"/>
                <a:ea typeface="Yu Gothic" pitchFamily="34" charset="-122"/>
                <a:cs typeface="Yu Gothic" pitchFamily="34" charset="-120"/>
              </a:rPr>
              <a:t>“信頼性。効率。インテリジェント。”</a:t>
            </a:r>
            <a:endParaRPr lang="en-US" sz="4400" dirty="0"/>
          </a:p>
        </p:txBody>
      </p:sp>
      <p:sp>
        <p:nvSpPr>
          <p:cNvPr id="5" name="Text 3"/>
          <p:cNvSpPr/>
          <p:nvPr/>
        </p:nvSpPr>
        <p:spPr>
          <a:xfrm>
            <a:off x="640080" y="3017520"/>
            <a:ext cx="10058400" cy="1828800"/>
          </a:xfrm>
          <a:prstGeom prst="rect">
            <a:avLst/>
          </a:prstGeom>
          <a:noFill/>
          <a:ln/>
        </p:spPr>
        <p:txBody>
          <a:bodyPr wrap="square" lIns="0" tIns="0" rIns="0" bIns="0" rtlCol="0" anchor="ctr"/>
          <a:lstStyle/>
          <a:p>
            <a:pPr indent="0" marL="0">
              <a:spcAft>
                <a:spcPts val="400"/>
              </a:spcAft>
              <a:buNone/>
            </a:pPr>
            <a:r>
              <a:rPr lang="en-US" sz="1500" dirty="0">
                <a:solidFill>
                  <a:srgbClr val="D6DEE8"/>
                </a:solidFill>
                <a:latin typeface="Yu Gothic" pitchFamily="34" charset="0"/>
                <a:ea typeface="Yu Gothic" pitchFamily="34" charset="-122"/>
                <a:cs typeface="Yu Gothic" pitchFamily="34" charset="-120"/>
              </a:rPr>
              <a:t>Humbo Technologyのミッションは、インテリジェントセンシングを民主化することです。コールドチェーンコンテナから病院の包帯まで、あらゆる物理的資産に手頃なリアルタイムセンシングを提供します。マルチチャンネルモジュラーハードウェアと超低コストビーコン技術を組み合わせ、AIoTセンシングを大規模に実用化します。</a:t>
            </a:r>
            <a:endParaRPr lang="en-US" sz="1500" dirty="0"/>
          </a:p>
        </p:txBody>
      </p:sp>
      <p:sp>
        <p:nvSpPr>
          <p:cNvPr id="6" name="Shape 4"/>
          <p:cNvSpPr/>
          <p:nvPr/>
        </p:nvSpPr>
        <p:spPr>
          <a:xfrm>
            <a:off x="640080" y="5303520"/>
            <a:ext cx="1956816" cy="411480"/>
          </a:xfrm>
          <a:prstGeom prst="roundRect">
            <a:avLst>
              <a:gd name="adj" fmla="val 33333"/>
            </a:avLst>
          </a:prstGeom>
          <a:solidFill>
            <a:srgbClr val="38BDF8">
              <a:alpha val="18000"/>
            </a:srgbClr>
          </a:solidFill>
          <a:ln w="12700">
            <a:solidFill>
              <a:srgbClr val="38BDF8">
                <a:alpha val="50000"/>
              </a:srgbClr>
            </a:solidFill>
            <a:prstDash val="solid"/>
          </a:ln>
        </p:spPr>
      </p:sp>
      <p:sp>
        <p:nvSpPr>
          <p:cNvPr id="7" name="Text 5"/>
          <p:cNvSpPr/>
          <p:nvPr/>
        </p:nvSpPr>
        <p:spPr>
          <a:xfrm>
            <a:off x="640080" y="5303520"/>
            <a:ext cx="1956816"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長期パートナー</a:t>
            </a:r>
            <a:endParaRPr lang="en-US" sz="1100" dirty="0"/>
          </a:p>
        </p:txBody>
      </p:sp>
      <p:sp>
        <p:nvSpPr>
          <p:cNvPr id="8" name="Shape 6"/>
          <p:cNvSpPr/>
          <p:nvPr/>
        </p:nvSpPr>
        <p:spPr>
          <a:xfrm>
            <a:off x="2734056" y="5303520"/>
            <a:ext cx="1353312" cy="411480"/>
          </a:xfrm>
          <a:prstGeom prst="roundRect">
            <a:avLst>
              <a:gd name="adj" fmla="val 33333"/>
            </a:avLst>
          </a:prstGeom>
          <a:solidFill>
            <a:srgbClr val="38BDF8">
              <a:alpha val="18000"/>
            </a:srgbClr>
          </a:solidFill>
          <a:ln w="12700">
            <a:solidFill>
              <a:srgbClr val="38BDF8">
                <a:alpha val="50000"/>
              </a:srgbClr>
            </a:solidFill>
            <a:prstDash val="solid"/>
          </a:ln>
        </p:spPr>
      </p:sp>
      <p:sp>
        <p:nvSpPr>
          <p:cNvPr id="9" name="Text 7"/>
          <p:cNvSpPr/>
          <p:nvPr/>
        </p:nvSpPr>
        <p:spPr>
          <a:xfrm>
            <a:off x="2734056" y="5303520"/>
            <a:ext cx="1353312"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技術統合支援</a:t>
            </a:r>
            <a:endParaRPr lang="en-US" sz="1100" dirty="0"/>
          </a:p>
        </p:txBody>
      </p:sp>
      <p:sp>
        <p:nvSpPr>
          <p:cNvPr id="10" name="Shape 8"/>
          <p:cNvSpPr/>
          <p:nvPr/>
        </p:nvSpPr>
        <p:spPr>
          <a:xfrm>
            <a:off x="4224528" y="5303520"/>
            <a:ext cx="1956816" cy="411480"/>
          </a:xfrm>
          <a:prstGeom prst="roundRect">
            <a:avLst>
              <a:gd name="adj" fmla="val 33333"/>
            </a:avLst>
          </a:prstGeom>
          <a:solidFill>
            <a:srgbClr val="38BDF8">
              <a:alpha val="18000"/>
            </a:srgbClr>
          </a:solidFill>
          <a:ln w="12700">
            <a:solidFill>
              <a:srgbClr val="38BDF8">
                <a:alpha val="50000"/>
              </a:srgbClr>
            </a:solidFill>
            <a:prstDash val="solid"/>
          </a:ln>
        </p:spPr>
      </p:sp>
      <p:sp>
        <p:nvSpPr>
          <p:cNvPr id="11" name="Text 9"/>
          <p:cNvSpPr/>
          <p:nvPr/>
        </p:nvSpPr>
        <p:spPr>
          <a:xfrm>
            <a:off x="4224528" y="5303520"/>
            <a:ext cx="1956816"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モジュラー設計</a:t>
            </a:r>
            <a:endParaRPr lang="en-US" sz="1100" dirty="0"/>
          </a:p>
        </p:txBody>
      </p:sp>
      <p:sp>
        <p:nvSpPr>
          <p:cNvPr id="12" name="Shape 10"/>
          <p:cNvSpPr/>
          <p:nvPr/>
        </p:nvSpPr>
        <p:spPr>
          <a:xfrm>
            <a:off x="6318504" y="5303520"/>
            <a:ext cx="1554480" cy="411480"/>
          </a:xfrm>
          <a:prstGeom prst="roundRect">
            <a:avLst>
              <a:gd name="adj" fmla="val 33333"/>
            </a:avLst>
          </a:prstGeom>
          <a:solidFill>
            <a:srgbClr val="38BDF8">
              <a:alpha val="18000"/>
            </a:srgbClr>
          </a:solidFill>
          <a:ln w="12700">
            <a:solidFill>
              <a:srgbClr val="38BDF8">
                <a:alpha val="50000"/>
              </a:srgbClr>
            </a:solidFill>
            <a:prstDash val="solid"/>
          </a:ln>
        </p:spPr>
      </p:sp>
      <p:sp>
        <p:nvSpPr>
          <p:cNvPr id="13" name="Text 11"/>
          <p:cNvSpPr/>
          <p:nvPr/>
        </p:nvSpPr>
        <p:spPr>
          <a:xfrm>
            <a:off x="6318504" y="5303520"/>
            <a:ext cx="155448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アプリ連携</a:t>
            </a:r>
            <a:endParaRPr lang="en-US" sz="1100" dirty="0"/>
          </a:p>
        </p:txBody>
      </p:sp>
      <p:sp>
        <p:nvSpPr>
          <p:cNvPr id="14" name="Shape 12"/>
          <p:cNvSpPr/>
          <p:nvPr/>
        </p:nvSpPr>
        <p:spPr>
          <a:xfrm>
            <a:off x="8010144" y="5303520"/>
            <a:ext cx="2962656" cy="411480"/>
          </a:xfrm>
          <a:prstGeom prst="roundRect">
            <a:avLst>
              <a:gd name="adj" fmla="val 33333"/>
            </a:avLst>
          </a:prstGeom>
          <a:solidFill>
            <a:srgbClr val="38BDF8">
              <a:alpha val="18000"/>
            </a:srgbClr>
          </a:solidFill>
          <a:ln w="12700">
            <a:solidFill>
              <a:srgbClr val="38BDF8">
                <a:alpha val="50000"/>
              </a:srgbClr>
            </a:solidFill>
            <a:prstDash val="solid"/>
          </a:ln>
        </p:spPr>
      </p:sp>
      <p:sp>
        <p:nvSpPr>
          <p:cNvPr id="15" name="Text 13"/>
          <p:cNvSpPr/>
          <p:nvPr/>
        </p:nvSpPr>
        <p:spPr>
          <a:xfrm>
            <a:off x="8010144" y="5303520"/>
            <a:ext cx="2962656"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Yu Gothic" pitchFamily="34" charset="0"/>
                <a:ea typeface="Yu Gothic" pitchFamily="34" charset="-122"/>
                <a:cs typeface="Yu Gothic" pitchFamily="34" charset="-120"/>
              </a:rPr>
              <a:t>AIoT 実現</a:t>
            </a:r>
            <a:endParaRPr lang="en-US" sz="1100" dirty="0"/>
          </a:p>
        </p:txBody>
      </p:sp>
      <p:sp>
        <p:nvSpPr>
          <p:cNvPr id="16" name="Text 14"/>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17" name="Text 15"/>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8229600" y="2743200"/>
            <a:ext cx="7315200" cy="7315200"/>
          </a:xfrm>
          <a:prstGeom prst="ellipse">
            <a:avLst/>
          </a:prstGeom>
          <a:solidFill>
            <a:srgbClr val="38BDF8">
              <a:alpha val="12000"/>
            </a:srgbClr>
          </a:solidFill>
          <a:ln w="12700">
            <a:solidFill>
              <a:srgbClr val="38BDF8">
                <a:alpha val="0"/>
              </a:srgbClr>
            </a:solidFill>
            <a:prstDash val="solid"/>
          </a:ln>
        </p:spPr>
      </p:sp>
      <p:sp>
        <p:nvSpPr>
          <p:cNvPr id="3" name="Shape 1"/>
          <p:cNvSpPr/>
          <p:nvPr/>
        </p:nvSpPr>
        <p:spPr>
          <a:xfrm>
            <a:off x="-2743200" y="-1828800"/>
            <a:ext cx="5486400" cy="5486400"/>
          </a:xfrm>
          <a:prstGeom prst="ellipse">
            <a:avLst/>
          </a:prstGeom>
          <a:solidFill>
            <a:srgbClr val="06B6D4">
              <a:alpha val="10000"/>
            </a:srgbClr>
          </a:solidFill>
          <a:ln w="12700">
            <a:solidFill>
              <a:srgbClr val="06B6D4">
                <a:alpha val="0"/>
              </a:srgbClr>
            </a:solidFill>
            <a:prstDash val="solid"/>
          </a:ln>
        </p:spPr>
      </p:sp>
      <p:sp>
        <p:nvSpPr>
          <p:cNvPr id="4" name="Text 2"/>
          <p:cNvSpPr/>
          <p:nvPr/>
        </p:nvSpPr>
        <p:spPr>
          <a:xfrm>
            <a:off x="640080" y="1371600"/>
            <a:ext cx="10972800" cy="365760"/>
          </a:xfrm>
          <a:prstGeom prst="rect">
            <a:avLst/>
          </a:prstGeom>
          <a:noFill/>
          <a:ln/>
        </p:spPr>
        <p:txBody>
          <a:bodyPr wrap="square" lIns="0" tIns="0" rIns="0" bIns="0" rtlCol="0" anchor="ctr"/>
          <a:lstStyle/>
          <a:p>
            <a:pPr indent="0" marL="0">
              <a:buNone/>
            </a:pPr>
            <a:r>
              <a:rPr lang="en-US" sz="1300" b="1" spc="300" kern="0" dirty="0">
                <a:solidFill>
                  <a:srgbClr val="38BDF8"/>
                </a:solidFill>
                <a:latin typeface="Yu Gothic" pitchFamily="34" charset="0"/>
                <a:ea typeface="Yu Gothic" pitchFamily="34" charset="-122"/>
                <a:cs typeface="Yu Gothic" pitchFamily="34" charset="-120"/>
              </a:rPr>
              <a:t>ありがとうございます</a:t>
            </a:r>
            <a:endParaRPr lang="en-US" sz="1300" dirty="0"/>
          </a:p>
        </p:txBody>
      </p:sp>
      <p:sp>
        <p:nvSpPr>
          <p:cNvPr id="5" name="Text 3"/>
          <p:cNvSpPr/>
          <p:nvPr/>
        </p:nvSpPr>
        <p:spPr>
          <a:xfrm>
            <a:off x="640080" y="1828800"/>
            <a:ext cx="10058400" cy="1645920"/>
          </a:xfrm>
          <a:prstGeom prst="rect">
            <a:avLst/>
          </a:prstGeom>
          <a:noFill/>
          <a:ln/>
        </p:spPr>
        <p:txBody>
          <a:bodyPr wrap="square" lIns="0" tIns="0" rIns="0" bIns="0" rtlCol="0" anchor="ctr"/>
          <a:lstStyle/>
          <a:p>
            <a:pPr indent="0" marL="0">
              <a:buNone/>
            </a:pPr>
            <a:r>
              <a:rPr lang="en-US" sz="4400" b="1" dirty="0">
                <a:solidFill>
                  <a:srgbClr val="FFFFFF"/>
                </a:solidFill>
                <a:latin typeface="Yu Gothic" pitchFamily="34" charset="0"/>
                <a:ea typeface="Yu Gothic" pitchFamily="34" charset="-122"/>
                <a:cs typeface="Yu Gothic" pitchFamily="34" charset="-120"/>
              </a:rPr>
              <a:t>センシングをよりスマートに。</a:t>
            </a:r>
            <a:endParaRPr lang="en-US" sz="4400" dirty="0"/>
          </a:p>
        </p:txBody>
      </p:sp>
      <p:sp>
        <p:nvSpPr>
          <p:cNvPr id="6" name="Text 4"/>
          <p:cNvSpPr/>
          <p:nvPr/>
        </p:nvSpPr>
        <p:spPr>
          <a:xfrm>
            <a:off x="640080" y="3657600"/>
            <a:ext cx="10058400" cy="548640"/>
          </a:xfrm>
          <a:prstGeom prst="rect">
            <a:avLst/>
          </a:prstGeom>
          <a:noFill/>
          <a:ln/>
        </p:spPr>
        <p:txBody>
          <a:bodyPr wrap="square" lIns="0" tIns="0" rIns="0" bIns="0" rtlCol="0" anchor="ctr"/>
          <a:lstStyle/>
          <a:p>
            <a:pPr indent="0" marL="0">
              <a:buNone/>
            </a:pPr>
            <a:r>
              <a:rPr lang="en-US" sz="1600" dirty="0">
                <a:solidFill>
                  <a:srgbClr val="B8C5D6"/>
                </a:solidFill>
                <a:latin typeface="Yu Gothic" pitchFamily="34" charset="0"/>
                <a:ea typeface="Yu Gothic" pitchFamily="34" charset="-122"/>
                <a:cs typeface="Yu Gothic" pitchFamily="34" charset="-120"/>
              </a:rPr>
              <a:t>BLE Sensor Hub / SmartBeacon エンジニアリングサンプルを早期入手</a:t>
            </a:r>
            <a:endParaRPr lang="en-US" sz="1600" dirty="0"/>
          </a:p>
        </p:txBody>
      </p:sp>
      <p:sp>
        <p:nvSpPr>
          <p:cNvPr id="7" name="Shape 5"/>
          <p:cNvSpPr/>
          <p:nvPr/>
        </p:nvSpPr>
        <p:spPr>
          <a:xfrm>
            <a:off x="640080" y="5029200"/>
            <a:ext cx="11109960" cy="1188720"/>
          </a:xfrm>
          <a:prstGeom prst="rect">
            <a:avLst/>
          </a:prstGeom>
          <a:solidFill>
            <a:srgbClr val="0C1E3A"/>
          </a:solidFill>
          <a:ln w="12700">
            <a:solidFill>
              <a:srgbClr val="38BDF8">
                <a:alpha val="50000"/>
              </a:srgbClr>
            </a:solidFill>
            <a:prstDash val="solid"/>
          </a:ln>
        </p:spPr>
      </p:sp>
      <p:sp>
        <p:nvSpPr>
          <p:cNvPr id="8" name="Shape 6"/>
          <p:cNvSpPr/>
          <p:nvPr/>
        </p:nvSpPr>
        <p:spPr>
          <a:xfrm>
            <a:off x="640080" y="5029200"/>
            <a:ext cx="91440" cy="1188720"/>
          </a:xfrm>
          <a:prstGeom prst="rect">
            <a:avLst/>
          </a:prstGeom>
          <a:solidFill>
            <a:srgbClr val="38BDF8"/>
          </a:solidFill>
          <a:ln w="12700">
            <a:solidFill>
              <a:srgbClr val="38BDF8"/>
            </a:solidFill>
            <a:prstDash val="solid"/>
          </a:ln>
        </p:spPr>
      </p:sp>
      <p:sp>
        <p:nvSpPr>
          <p:cNvPr id="9" name="Text 7"/>
          <p:cNvSpPr/>
          <p:nvPr/>
        </p:nvSpPr>
        <p:spPr>
          <a:xfrm>
            <a:off x="914400" y="5257800"/>
            <a:ext cx="548640" cy="731520"/>
          </a:xfrm>
          <a:prstGeom prst="rect">
            <a:avLst/>
          </a:prstGeom>
          <a:noFill/>
          <a:ln/>
        </p:spPr>
        <p:txBody>
          <a:bodyPr wrap="square" lIns="0" tIns="0" rIns="0" bIns="0" rtlCol="0" anchor="ctr"/>
          <a:lstStyle/>
          <a:p>
            <a:pPr indent="0" marL="0">
              <a:buNone/>
            </a:pPr>
            <a:r>
              <a:rPr lang="en-US" sz="2200" dirty="0">
                <a:solidFill>
                  <a:srgbClr val="000000"/>
                </a:solidFill>
                <a:latin typeface="Apple Color Emoji" pitchFamily="34" charset="0"/>
                <a:ea typeface="Apple Color Emoji" pitchFamily="34" charset="-122"/>
                <a:cs typeface="Apple Color Emoji" pitchFamily="34" charset="-120"/>
              </a:rPr>
              <a:t>🌐</a:t>
            </a:r>
            <a:endParaRPr lang="en-US" sz="2200" dirty="0"/>
          </a:p>
        </p:txBody>
      </p:sp>
      <p:sp>
        <p:nvSpPr>
          <p:cNvPr id="10" name="Text 8"/>
          <p:cNvSpPr/>
          <p:nvPr/>
        </p:nvSpPr>
        <p:spPr>
          <a:xfrm>
            <a:off x="1463040" y="5166360"/>
            <a:ext cx="4114800" cy="54864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www.humbotech.com</a:t>
            </a:r>
            <a:endParaRPr lang="en-US" sz="1600" dirty="0"/>
          </a:p>
        </p:txBody>
      </p:sp>
      <p:sp>
        <p:nvSpPr>
          <p:cNvPr id="11" name="Text 9"/>
          <p:cNvSpPr/>
          <p:nvPr/>
        </p:nvSpPr>
        <p:spPr>
          <a:xfrm>
            <a:off x="1463040" y="5577840"/>
            <a:ext cx="4114800" cy="365760"/>
          </a:xfrm>
          <a:prstGeom prst="rect">
            <a:avLst/>
          </a:prstGeom>
          <a:noFill/>
          <a:ln/>
        </p:spPr>
        <p:txBody>
          <a:bodyPr wrap="square" lIns="0" tIns="0" rIns="0" bIns="0" rtlCol="0" anchor="ctr"/>
          <a:lstStyle/>
          <a:p>
            <a:pPr indent="0" marL="0">
              <a:buNone/>
            </a:pPr>
            <a:r>
              <a:rPr lang="en-US" sz="900" spc="300" kern="0" dirty="0">
                <a:solidFill>
                  <a:srgbClr val="94A3B8"/>
                </a:solidFill>
                <a:latin typeface="Yu Gothic" pitchFamily="34" charset="0"/>
                <a:ea typeface="Yu Gothic" pitchFamily="34" charset="-122"/>
                <a:cs typeface="Yu Gothic" pitchFamily="34" charset="-120"/>
              </a:rPr>
              <a:t>ウェブサイト</a:t>
            </a:r>
            <a:endParaRPr lang="en-US" sz="900" dirty="0"/>
          </a:p>
        </p:txBody>
      </p:sp>
      <p:sp>
        <p:nvSpPr>
          <p:cNvPr id="12" name="Text 10"/>
          <p:cNvSpPr/>
          <p:nvPr/>
        </p:nvSpPr>
        <p:spPr>
          <a:xfrm>
            <a:off x="6126480" y="5257800"/>
            <a:ext cx="548640" cy="731520"/>
          </a:xfrm>
          <a:prstGeom prst="rect">
            <a:avLst/>
          </a:prstGeom>
          <a:noFill/>
          <a:ln/>
        </p:spPr>
        <p:txBody>
          <a:bodyPr wrap="square" lIns="0" tIns="0" rIns="0" bIns="0" rtlCol="0" anchor="ctr"/>
          <a:lstStyle/>
          <a:p>
            <a:pPr indent="0" marL="0">
              <a:buNone/>
            </a:pPr>
            <a:r>
              <a:rPr lang="en-US" sz="2200" dirty="0">
                <a:solidFill>
                  <a:srgbClr val="000000"/>
                </a:solidFill>
                <a:latin typeface="Apple Color Emoji" pitchFamily="34" charset="0"/>
                <a:ea typeface="Apple Color Emoji" pitchFamily="34" charset="-122"/>
                <a:cs typeface="Apple Color Emoji" pitchFamily="34" charset="-120"/>
              </a:rPr>
              <a:t>✉️</a:t>
            </a:r>
            <a:endParaRPr lang="en-US" sz="2200" dirty="0"/>
          </a:p>
        </p:txBody>
      </p:sp>
      <p:sp>
        <p:nvSpPr>
          <p:cNvPr id="13" name="Text 11"/>
          <p:cNvSpPr/>
          <p:nvPr/>
        </p:nvSpPr>
        <p:spPr>
          <a:xfrm>
            <a:off x="6675120" y="5166360"/>
            <a:ext cx="5029200" cy="548640"/>
          </a:xfrm>
          <a:prstGeom prst="rect">
            <a:avLst/>
          </a:prstGeom>
          <a:noFill/>
          <a:ln/>
        </p:spPr>
        <p:txBody>
          <a:bodyPr wrap="square" lIns="0" tIns="0" rIns="0" bIns="0" rtlCol="0" anchor="ctr"/>
          <a:lstStyle/>
          <a:p>
            <a:pPr indent="0" marL="0">
              <a:buNone/>
            </a:pPr>
            <a:r>
              <a:rPr lang="en-US" sz="1600" b="1" dirty="0">
                <a:solidFill>
                  <a:srgbClr val="FFFFFF"/>
                </a:solidFill>
                <a:latin typeface="Yu Gothic" pitchFamily="34" charset="0"/>
                <a:ea typeface="Yu Gothic" pitchFamily="34" charset="-122"/>
                <a:cs typeface="Yu Gothic" pitchFamily="34" charset="-120"/>
              </a:rPr>
              <a:t>contact@humbotech.com</a:t>
            </a:r>
            <a:endParaRPr lang="en-US" sz="1600" dirty="0"/>
          </a:p>
        </p:txBody>
      </p:sp>
      <p:sp>
        <p:nvSpPr>
          <p:cNvPr id="14" name="Text 12"/>
          <p:cNvSpPr/>
          <p:nvPr/>
        </p:nvSpPr>
        <p:spPr>
          <a:xfrm>
            <a:off x="6675120" y="5577840"/>
            <a:ext cx="5029200" cy="365760"/>
          </a:xfrm>
          <a:prstGeom prst="rect">
            <a:avLst/>
          </a:prstGeom>
          <a:noFill/>
          <a:ln/>
        </p:spPr>
        <p:txBody>
          <a:bodyPr wrap="square" lIns="0" tIns="0" rIns="0" bIns="0" rtlCol="0" anchor="ctr"/>
          <a:lstStyle/>
          <a:p>
            <a:pPr indent="0" marL="0">
              <a:buNone/>
            </a:pPr>
            <a:r>
              <a:rPr lang="en-US" sz="900" spc="300" kern="0" dirty="0">
                <a:solidFill>
                  <a:srgbClr val="94A3B8"/>
                </a:solidFill>
                <a:latin typeface="Yu Gothic" pitchFamily="34" charset="0"/>
                <a:ea typeface="Yu Gothic" pitchFamily="34" charset="-122"/>
                <a:cs typeface="Yu Gothic" pitchFamily="34" charset="-120"/>
              </a:rPr>
              <a:t>お問い合わせ</a:t>
            </a:r>
            <a:endParaRPr lang="en-US" sz="900" dirty="0"/>
          </a:p>
        </p:txBody>
      </p:sp>
      <p:pic>
        <p:nvPicPr>
          <p:cNvPr id="15" name="Image 0" descr="/home/claude/ppt/logo_icon.png">    </p:cNvPr>
          <p:cNvPicPr>
            <a:picLocks noChangeAspect="1"/>
          </p:cNvPicPr>
          <p:nvPr/>
        </p:nvPicPr>
        <p:blipFill>
          <a:blip r:embed="rId1"/>
          <a:stretch>
            <a:fillRect/>
          </a:stretch>
        </p:blipFill>
        <p:spPr>
          <a:xfrm>
            <a:off x="10058400" y="548640"/>
            <a:ext cx="1463040" cy="1188720"/>
          </a:xfrm>
          <a:prstGeom prst="rect">
            <a:avLst/>
          </a:prstGeom>
        </p:spPr>
      </p:pic>
      <p:sp>
        <p:nvSpPr>
          <p:cNvPr id="16" name="Text 13"/>
          <p:cNvSpPr/>
          <p:nvPr/>
        </p:nvSpPr>
        <p:spPr>
          <a:xfrm>
            <a:off x="457200" y="6446520"/>
            <a:ext cx="7315200" cy="274320"/>
          </a:xfrm>
          <a:prstGeom prst="rect">
            <a:avLst/>
          </a:prstGeom>
          <a:noFill/>
          <a:ln/>
        </p:spPr>
        <p:txBody>
          <a:bodyPr wrap="square" rtlCol="0" anchor="ctr"/>
          <a:lstStyle/>
          <a:p>
            <a:pPr algn="l" indent="0" marL="0">
              <a:buNone/>
            </a:pPr>
            <a:r>
              <a:rPr lang="en-US" sz="900" dirty="0">
                <a:solidFill>
                  <a:srgbClr val="94A3B8"/>
                </a:solidFill>
                <a:latin typeface="Yu Gothic" pitchFamily="34" charset="0"/>
                <a:ea typeface="Yu Gothic" pitchFamily="34" charset="-122"/>
                <a:cs typeface="Yu Gothic" pitchFamily="34" charset="-120"/>
              </a:rPr>
              <a:t>Humbo Technology Inc.  ·  www.humbotech.com</a:t>
            </a:r>
            <a:endParaRPr lang="en-US" sz="900" dirty="0"/>
          </a:p>
        </p:txBody>
      </p:sp>
      <p:sp>
        <p:nvSpPr>
          <p:cNvPr id="17" name="Text 14"/>
          <p:cNvSpPr/>
          <p:nvPr/>
        </p:nvSpPr>
        <p:spPr>
          <a:xfrm>
            <a:off x="10972800" y="6446520"/>
            <a:ext cx="731520" cy="274320"/>
          </a:xfrm>
          <a:prstGeom prst="rect">
            <a:avLst/>
          </a:prstGeom>
          <a:noFill/>
          <a:ln/>
        </p:spPr>
        <p:txBody>
          <a:bodyPr wrap="square" rtlCol="0" anchor="ctr"/>
          <a:lstStyle/>
          <a:p>
            <a:pPr algn="r" indent="0" marL="0">
              <a:buNone/>
            </a:pPr>
            <a:r>
              <a:rPr lang="en-US" sz="900" dirty="0">
                <a:solidFill>
                  <a:srgbClr val="94A3B8"/>
                </a:solidFill>
                <a:latin typeface="Yu Gothic" pitchFamily="34" charset="0"/>
                <a:ea typeface="Yu Gothic" pitchFamily="34" charset="-122"/>
                <a:cs typeface="Yu Gothic"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Humbo Technology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瀚渤科技 会社概要</dc:title>
  <dc:subject>PptxGenJS Presentation</dc:subject>
  <dc:creator>Humbo Technology Inc.</dc:creator>
  <cp:lastModifiedBy>Humbo Technology Inc.</cp:lastModifiedBy>
  <cp:revision>1</cp:revision>
  <dcterms:created xsi:type="dcterms:W3CDTF">2026-05-13T13:15:35Z</dcterms:created>
  <dcterms:modified xsi:type="dcterms:W3CDTF">2026-05-13T13:15:35Z</dcterms:modified>
</cp:coreProperties>
</file>